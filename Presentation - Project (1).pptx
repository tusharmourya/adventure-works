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73" r:id="rId3"/>
    <p:sldId id="257" r:id="rId4"/>
    <p:sldId id="258" r:id="rId5"/>
    <p:sldId id="259" r:id="rId6"/>
    <p:sldId id="260" r:id="rId7"/>
    <p:sldId id="267" r:id="rId8"/>
    <p:sldId id="268" r:id="rId9"/>
    <p:sldId id="269" r:id="rId10"/>
    <p:sldId id="270" r:id="rId11"/>
    <p:sldId id="264" r:id="rId12"/>
    <p:sldId id="265" r:id="rId13"/>
    <p:sldId id="266" r:id="rId14"/>
    <p:sldId id="271" r:id="rId15"/>
    <p:sldId id="272" r:id="rId16"/>
    <p:sldId id="274" r:id="rId17"/>
  </p:sldIdLst>
  <p:sldSz cx="14630400" cy="8229600"/>
  <p:notesSz cx="8229600" cy="14630400"/>
  <p:embeddedFontLst>
    <p:embeddedFont>
      <p:font typeface="Prata" panose="020B0604020202020204" charset="0"/>
      <p:regular r:id="rId19"/>
    </p:embeddedFont>
    <p:embeddedFont>
      <p:font typeface="Raleway" pitchFamily="2"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7C00"/>
    <a:srgbClr val="C9A227"/>
    <a:srgbClr val="FFF2CC"/>
    <a:srgbClr val="FFD966"/>
    <a:srgbClr val="B8860B"/>
    <a:srgbClr val="1E1E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D1B6-F66B-D5ED-7F0D-8E21B42C4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84568-6AA9-97D9-03A2-28DBFED80C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B83B0E-9028-8319-3341-3EFC2F7EA3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1AB3FA-D8ED-EA13-8BC3-10AF3F1A801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09034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ACB98-BFE9-2903-5B29-A335FBAE5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D4388-CF8D-96C3-E165-E5ABF21967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AE6320-C477-2C67-4BA8-4E93BF2F5D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F4C8E6-9E4A-7CEA-EF5C-E24140E3479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86326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BFC96-A5C1-0118-3AFC-B77BB40F0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876B8-F69E-40E6-D68F-BCC27C0005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A4CBA8-BBC7-667F-A03B-66DFE51168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8EBF90-DCD4-9D50-579C-F1AC6BB26D3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15566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4301-EB0E-375F-C7B8-AF8907026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BF109-D9F3-6AB9-D73F-1F47482F1C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59C9F0-2256-E6AC-5ECB-F9C1DF5C37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8E41A9-801F-1820-CFFB-C37A7BAD670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90933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40B72-5FC0-2635-9976-85C0E6BEB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FABAB-EE0B-A7E5-C35E-C61C1B9B80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28D867-0EB2-3005-AE41-2D528D242A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656F09-98E5-12B9-96B0-C546EEB399B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9828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7C5E2-A26A-F832-4E7B-384C9C7B7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C84DB-1F18-A8B3-0947-C2D4175700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105324-C189-BA8A-3AE9-4E2ED3902D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A9706B-40F6-D5A6-A0C1-F61BAD71D26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10329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971C1-D9EB-070F-956B-CC017C01F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53DB1-ADEE-0FD8-69C6-489C743623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1F7868-D587-2839-05F4-0D6844E170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1CBCF1-6443-3119-2CA2-4A2F12A2C2B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41419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68B03-24D7-A2E2-049E-82C511FA5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6B5D5-CE63-6368-A947-609E253F524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161FE8-66F6-1679-5B83-A0BC4AF8C9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127D0E-EFDC-8EEE-8252-1ED0BD6F8AC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7970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4EA0E-85BF-AD98-FC30-DDA18985F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FD17E-7B2C-6F9E-4C04-EC03852BD9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FEB4DB-5534-E669-1A9D-192E75119C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C6CF09-7046-F77C-60C1-B26061D4660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55202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33.sv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43407"/>
            <a:ext cx="7556421" cy="2126337"/>
          </a:xfrm>
          <a:prstGeom prst="rect">
            <a:avLst/>
          </a:prstGeom>
          <a:noFill/>
          <a:ln/>
        </p:spPr>
        <p:txBody>
          <a:bodyPr wrap="square" lIns="0" tIns="0" rIns="0" bIns="0" rtlCol="0" anchor="t"/>
          <a:lstStyle/>
          <a:p>
            <a:pPr>
              <a:lnSpc>
                <a:spcPts val="5550"/>
              </a:lnSpc>
            </a:pPr>
            <a:r>
              <a:rPr lang="en-US" sz="445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ADVENTURE WORKS –SALES &amp; PROFIT ANALYSIS</a:t>
            </a:r>
          </a:p>
        </p:txBody>
      </p:sp>
      <p:sp>
        <p:nvSpPr>
          <p:cNvPr id="5" name="Text 2"/>
          <p:cNvSpPr/>
          <p:nvPr/>
        </p:nvSpPr>
        <p:spPr>
          <a:xfrm>
            <a:off x="793789" y="3944064"/>
            <a:ext cx="7556421" cy="3313986"/>
          </a:xfrm>
          <a:prstGeom prst="rect">
            <a:avLst/>
          </a:prstGeom>
          <a:noFill/>
          <a:ln/>
        </p:spPr>
        <p:txBody>
          <a:bodyPr wrap="square" lIns="0" tIns="0" rIns="0" bIns="0" rtlCol="0" anchor="t"/>
          <a:lstStyle/>
          <a:p>
            <a:pPr marL="0" indent="0" algn="l">
              <a:lnSpc>
                <a:spcPts val="2850"/>
              </a:lnSpc>
              <a:buNone/>
            </a:pPr>
            <a:r>
              <a:rPr lang="en-US" sz="1750" b="1" dirty="0">
                <a:solidFill>
                  <a:srgbClr val="CFCBBF"/>
                </a:solidFill>
                <a:latin typeface="Raleway" pitchFamily="34" charset="0"/>
                <a:ea typeface="Raleway" pitchFamily="34" charset="-122"/>
                <a:cs typeface="Raleway" pitchFamily="34" charset="-120"/>
              </a:rPr>
              <a:t> Project by:</a:t>
            </a:r>
          </a:p>
          <a:p>
            <a:pPr marL="0" indent="0" algn="l">
              <a:lnSpc>
                <a:spcPts val="2850"/>
              </a:lnSpc>
              <a:buNone/>
            </a:pPr>
            <a:r>
              <a:rPr lang="en-US" sz="1750" b="1" dirty="0">
                <a:solidFill>
                  <a:srgbClr val="CFCBBF"/>
                </a:solidFill>
                <a:latin typeface="Raleway" pitchFamily="34" charset="0"/>
              </a:rPr>
              <a:t> Karapa Harsha Vardhan Raju</a:t>
            </a:r>
          </a:p>
          <a:p>
            <a:pPr marL="0" indent="0" algn="l">
              <a:lnSpc>
                <a:spcPts val="2850"/>
              </a:lnSpc>
              <a:buNone/>
            </a:pPr>
            <a:r>
              <a:rPr lang="en-US" sz="1750" b="1" dirty="0">
                <a:solidFill>
                  <a:srgbClr val="CFCBBF"/>
                </a:solidFill>
                <a:latin typeface="Raleway" pitchFamily="34" charset="0"/>
              </a:rPr>
              <a:t> Sanjana Bagewadi</a:t>
            </a:r>
          </a:p>
          <a:p>
            <a:pPr marL="0" indent="0" algn="l">
              <a:lnSpc>
                <a:spcPts val="2850"/>
              </a:lnSpc>
              <a:buNone/>
            </a:pPr>
            <a:r>
              <a:rPr lang="en-US" sz="1750" b="1" dirty="0">
                <a:solidFill>
                  <a:srgbClr val="CFCBBF"/>
                </a:solidFill>
                <a:latin typeface="Raleway" pitchFamily="34" charset="0"/>
              </a:rPr>
              <a:t> Jajjala Riyaz Mastan khan</a:t>
            </a:r>
          </a:p>
          <a:p>
            <a:pPr marL="0" indent="0" algn="l">
              <a:lnSpc>
                <a:spcPts val="2850"/>
              </a:lnSpc>
              <a:buNone/>
            </a:pPr>
            <a:r>
              <a:rPr lang="en-US" sz="1750" b="1" dirty="0">
                <a:solidFill>
                  <a:srgbClr val="CFCBBF"/>
                </a:solidFill>
                <a:latin typeface="Raleway" pitchFamily="34" charset="0"/>
              </a:rPr>
              <a:t> Gauri Pramod Annadate </a:t>
            </a:r>
          </a:p>
          <a:p>
            <a:pPr marL="0" indent="0" algn="l">
              <a:lnSpc>
                <a:spcPts val="2850"/>
              </a:lnSpc>
              <a:buNone/>
            </a:pPr>
            <a:r>
              <a:rPr lang="en-US" sz="1750" b="1" dirty="0">
                <a:solidFill>
                  <a:srgbClr val="CFCBBF"/>
                </a:solidFill>
                <a:latin typeface="Raleway" pitchFamily="34" charset="0"/>
              </a:rPr>
              <a:t> Tushar Anil Mourya</a:t>
            </a:r>
          </a:p>
          <a:p>
            <a:pPr marL="0" indent="0" algn="l">
              <a:lnSpc>
                <a:spcPts val="2850"/>
              </a:lnSpc>
              <a:buNone/>
            </a:pPr>
            <a:r>
              <a:rPr lang="en-US" sz="1750" b="1" dirty="0">
                <a:solidFill>
                  <a:srgbClr val="CFCBBF"/>
                </a:solidFill>
                <a:latin typeface="Raleway" pitchFamily="34" charset="0"/>
              </a:rPr>
              <a:t> Shaikh Abrar Ahmed</a:t>
            </a:r>
          </a:p>
          <a:p>
            <a:pPr marL="0" indent="0" algn="l">
              <a:lnSpc>
                <a:spcPts val="2850"/>
              </a:lnSpc>
              <a:buNone/>
            </a:pPr>
            <a:endParaRPr lang="en-US" sz="175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61B71-1BC6-5A41-8018-7A9034009B8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ABEBAF1-A812-2DC8-D713-3B2B2CB3BB0B}"/>
              </a:ext>
            </a:extLst>
          </p:cNvPr>
          <p:cNvSpPr/>
          <p:nvPr/>
        </p:nvSpPr>
        <p:spPr>
          <a:xfrm>
            <a:off x="793790" y="1324332"/>
            <a:ext cx="7556421" cy="2126337"/>
          </a:xfrm>
          <a:prstGeom prst="rect">
            <a:avLst/>
          </a:prstGeom>
          <a:noFill/>
          <a:ln/>
        </p:spPr>
        <p:txBody>
          <a:bodyPr wrap="square" lIns="0" tIns="0" rIns="0" bIns="0" rtlCol="0" anchor="t"/>
          <a:lstStyle/>
          <a:p>
            <a:pPr>
              <a:lnSpc>
                <a:spcPts val="5550"/>
              </a:lnSpc>
            </a:pPr>
            <a:r>
              <a:rPr lang="en-US" sz="4600" b="1"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Agenda</a:t>
            </a:r>
          </a:p>
        </p:txBody>
      </p:sp>
      <p:sp>
        <p:nvSpPr>
          <p:cNvPr id="5" name="Text 2">
            <a:extLst>
              <a:ext uri="{FF2B5EF4-FFF2-40B4-BE49-F238E27FC236}">
                <a16:creationId xmlns:a16="http://schemas.microsoft.com/office/drawing/2014/main" id="{2459480A-5927-E678-7479-9C2A38E68388}"/>
              </a:ext>
            </a:extLst>
          </p:cNvPr>
          <p:cNvSpPr/>
          <p:nvPr/>
        </p:nvSpPr>
        <p:spPr>
          <a:xfrm>
            <a:off x="793789" y="2278976"/>
            <a:ext cx="7556421" cy="4999912"/>
          </a:xfrm>
          <a:prstGeom prst="rect">
            <a:avLst/>
          </a:prstGeom>
          <a:noFill/>
          <a:ln/>
        </p:spPr>
        <p:txBody>
          <a:bodyPr wrap="square" lIns="0" tIns="0" rIns="0" bIns="0" rtlCol="0" anchor="t"/>
          <a:lstStyle/>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ea typeface="Raleway" pitchFamily="34" charset="-122"/>
                <a:cs typeface="Raleway" pitchFamily="34" charset="-120"/>
              </a:rPr>
              <a:t> Introduction</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Data Overview</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Objectives </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Process</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Analysis</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Recommendations and Insights </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Conclusion </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Challenges &amp; Learnings </a:t>
            </a:r>
          </a:p>
          <a:p>
            <a:pPr marL="342900" indent="-342900" algn="l">
              <a:lnSpc>
                <a:spcPct val="150000"/>
              </a:lnSpc>
              <a:buFont typeface="Arial" panose="020B0604020202020204" pitchFamily="34" charset="0"/>
              <a:buChar char="•"/>
            </a:pPr>
            <a:r>
              <a:rPr lang="en-US" sz="2400" b="1" dirty="0">
                <a:solidFill>
                  <a:srgbClr val="CFCBBF"/>
                </a:solidFill>
                <a:latin typeface="Raleway" pitchFamily="34" charset="0"/>
              </a:rPr>
              <a:t> Dashboard </a:t>
            </a:r>
            <a:endParaRPr lang="en-US" sz="2400" b="1" dirty="0"/>
          </a:p>
        </p:txBody>
      </p:sp>
      <p:pic>
        <p:nvPicPr>
          <p:cNvPr id="1028" name="Picture 4">
            <a:extLst>
              <a:ext uri="{FF2B5EF4-FFF2-40B4-BE49-F238E27FC236}">
                <a16:creationId xmlns:a16="http://schemas.microsoft.com/office/drawing/2014/main" id="{C2D65D03-5838-4F28-E405-6B9B74694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5900" y="0"/>
            <a:ext cx="5524499" cy="822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583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892385" y="440174"/>
            <a:ext cx="8621911" cy="487799"/>
          </a:xfrm>
          <a:prstGeom prst="rect">
            <a:avLst/>
          </a:prstGeom>
          <a:noFill/>
          <a:ln/>
        </p:spPr>
        <p:txBody>
          <a:bodyPr wrap="none" lIns="0" tIns="0" rIns="0" bIns="0" rtlCol="0" anchor="t"/>
          <a:lstStyle/>
          <a:p>
            <a:pPr marL="0" indent="0" algn="l">
              <a:lnSpc>
                <a:spcPts val="3800"/>
              </a:lnSpc>
              <a:buNone/>
            </a:pPr>
            <a:r>
              <a:rPr lang="en-US" sz="330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Adventure Works: Introduction</a:t>
            </a:r>
          </a:p>
        </p:txBody>
      </p:sp>
      <p:sp>
        <p:nvSpPr>
          <p:cNvPr id="3" name="Text 1"/>
          <p:cNvSpPr/>
          <p:nvPr/>
        </p:nvSpPr>
        <p:spPr>
          <a:xfrm>
            <a:off x="565665" y="3263741"/>
            <a:ext cx="3127415" cy="998696"/>
          </a:xfrm>
          <a:prstGeom prst="rect">
            <a:avLst/>
          </a:prstGeom>
          <a:noFill/>
          <a:ln/>
        </p:spPr>
        <p:txBody>
          <a:bodyPr wrap="none" lIns="0" tIns="0" rIns="0" bIns="0" rtlCol="0" anchor="t"/>
          <a:lstStyle/>
          <a:p>
            <a:pPr>
              <a:lnSpc>
                <a:spcPts val="1900"/>
              </a:lnSpc>
            </a:pPr>
            <a:endParaRPr lang="en-US" sz="2000" dirty="0">
              <a:solidFill>
                <a:srgbClr val="F2E782"/>
              </a:solidFill>
              <a:latin typeface="Prata" pitchFamily="34" charset="0"/>
            </a:endParaRPr>
          </a:p>
          <a:p>
            <a:pPr>
              <a:lnSpc>
                <a:spcPts val="1900"/>
              </a:lnSpc>
            </a:pPr>
            <a:r>
              <a:rPr lang="en-US" sz="2000" dirty="0">
                <a:solidFill>
                  <a:srgbClr val="F2E782"/>
                </a:solidFill>
                <a:latin typeface="Prata" pitchFamily="34" charset="0"/>
              </a:rPr>
              <a:t>Company Overview</a:t>
            </a:r>
          </a:p>
        </p:txBody>
      </p:sp>
      <p:sp>
        <p:nvSpPr>
          <p:cNvPr id="4" name="Text 2"/>
          <p:cNvSpPr/>
          <p:nvPr/>
        </p:nvSpPr>
        <p:spPr>
          <a:xfrm>
            <a:off x="268844" y="3849348"/>
            <a:ext cx="6848475" cy="1436133"/>
          </a:xfrm>
          <a:prstGeom prst="rect">
            <a:avLst/>
          </a:prstGeom>
          <a:noFill/>
          <a:ln/>
        </p:spPr>
        <p:txBody>
          <a:bodyPr wrap="square" lIns="0" tIns="0" rIns="0" bIns="0" rtlCol="0" anchor="t"/>
          <a:lstStyle/>
          <a:p>
            <a:pPr marL="342900" indent="-342900">
              <a:lnSpc>
                <a:spcPts val="1950"/>
              </a:lnSpc>
              <a:buSzPct val="100000"/>
              <a:buChar char="•"/>
            </a:pPr>
            <a:r>
              <a:rPr lang="en-US" dirty="0">
                <a:solidFill>
                  <a:srgbClr val="CFCBBF"/>
                </a:solidFill>
                <a:latin typeface="Raleway" pitchFamily="34" charset="0"/>
              </a:rPr>
              <a:t>Adventure Works Cycles is a multinational manufacturing company with operations across North America, Europe, and Asia. The company manufactures metal and composite bicycles and distributes them through regional sales teams. Its core operations are based in Bothell, Washington, with additional manufacturing support from Mexico</a:t>
            </a:r>
            <a:r>
              <a:rPr lang="en-US" dirty="0"/>
              <a:t>.</a:t>
            </a:r>
            <a:endParaRPr lang="en-US" dirty="0">
              <a:solidFill>
                <a:srgbClr val="CFCBBF"/>
              </a:solidFill>
              <a:latin typeface="Raleway" pitchFamily="34" charset="0"/>
            </a:endParaRPr>
          </a:p>
        </p:txBody>
      </p:sp>
      <p:sp>
        <p:nvSpPr>
          <p:cNvPr id="8" name="Text 6"/>
          <p:cNvSpPr/>
          <p:nvPr/>
        </p:nvSpPr>
        <p:spPr>
          <a:xfrm>
            <a:off x="7513082" y="1307187"/>
            <a:ext cx="1951434" cy="243840"/>
          </a:xfrm>
          <a:prstGeom prst="rect">
            <a:avLst/>
          </a:prstGeom>
          <a:noFill/>
          <a:ln/>
        </p:spPr>
        <p:txBody>
          <a:bodyPr wrap="none" lIns="0" tIns="0" rIns="0" bIns="0" rtlCol="0" anchor="t"/>
          <a:lstStyle/>
          <a:p>
            <a:pPr marL="0" indent="0" algn="l">
              <a:lnSpc>
                <a:spcPts val="1900"/>
              </a:lnSpc>
              <a:buNone/>
            </a:pPr>
            <a:r>
              <a:rPr lang="en-US" sz="2000" dirty="0">
                <a:solidFill>
                  <a:srgbClr val="F2E782"/>
                </a:solidFill>
                <a:latin typeface="Prata" pitchFamily="34" charset="0"/>
              </a:rPr>
              <a:t>Problem Statement</a:t>
            </a:r>
          </a:p>
        </p:txBody>
      </p:sp>
      <p:sp>
        <p:nvSpPr>
          <p:cNvPr id="9" name="Text 7"/>
          <p:cNvSpPr/>
          <p:nvPr/>
        </p:nvSpPr>
        <p:spPr>
          <a:xfrm>
            <a:off x="7513082" y="1707118"/>
            <a:ext cx="6441043" cy="998696"/>
          </a:xfrm>
          <a:prstGeom prst="rect">
            <a:avLst/>
          </a:prstGeom>
          <a:noFill/>
          <a:ln/>
        </p:spPr>
        <p:txBody>
          <a:bodyPr wrap="square" lIns="0" tIns="0" rIns="0" bIns="0" rtlCol="0" anchor="t"/>
          <a:lstStyle/>
          <a:p>
            <a:pPr>
              <a:lnSpc>
                <a:spcPts val="1950"/>
              </a:lnSpc>
            </a:pPr>
            <a:r>
              <a:rPr lang="en-US" dirty="0">
                <a:solidFill>
                  <a:srgbClr val="CFCBBF"/>
                </a:solidFill>
                <a:latin typeface="Raleway" pitchFamily="34" charset="0"/>
              </a:rPr>
              <a:t>Although Adventure Works has achieved consistent sales, the business lacks a centralized analytical view to track performance across time, products, customers, and regions. Decision‑making was heavily dependent on raw data without clear insights</a:t>
            </a:r>
            <a:r>
              <a:rPr lang="en-US" dirty="0"/>
              <a:t>.</a:t>
            </a:r>
          </a:p>
        </p:txBody>
      </p:sp>
      <p:grpSp>
        <p:nvGrpSpPr>
          <p:cNvPr id="18" name="Selection lock">
            <a:extLst>
              <a:ext uri="{FF2B5EF4-FFF2-40B4-BE49-F238E27FC236}">
                <a16:creationId xmlns:a16="http://schemas.microsoft.com/office/drawing/2014/main" id="{64733735-3C8C-1D57-91A0-62C87A9CE03F}"/>
              </a:ext>
            </a:extLst>
          </p:cNvPr>
          <p:cNvGrpSpPr/>
          <p:nvPr/>
        </p:nvGrpSpPr>
        <p:grpSpPr>
          <a:xfrm>
            <a:off x="7513082" y="3076574"/>
            <a:ext cx="6983968" cy="5050389"/>
            <a:chOff x="7513082" y="2881432"/>
            <a:chExt cx="6983968" cy="5245532"/>
          </a:xfrm>
        </p:grpSpPr>
        <p:sp>
          <p:nvSpPr>
            <p:cNvPr id="17" name="Rectangle 16">
              <a:extLst>
                <a:ext uri="{FF2B5EF4-FFF2-40B4-BE49-F238E27FC236}">
                  <a16:creationId xmlns:a16="http://schemas.microsoft.com/office/drawing/2014/main" id="{EF4761A7-0083-F3B3-4B88-23EE2BCF36FE}"/>
                </a:ext>
              </a:extLst>
            </p:cNvPr>
            <p:cNvSpPr>
              <a:spLocks noChangeAspect="1"/>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 0" descr="preencoded.png"/>
            <p:cNvPicPr>
              <a:picLocks noChangeAspect="1"/>
            </p:cNvPicPr>
            <p:nvPr/>
          </p:nvPicPr>
          <p:blipFill>
            <a:blip r:embed="rId3"/>
            <a:stretch>
              <a:fillRect/>
            </a:stretch>
          </p:blipFill>
          <p:spPr>
            <a:xfrm>
              <a:off x="7513082" y="2881432"/>
              <a:ext cx="6441043" cy="4746665"/>
            </a:xfrm>
            <a:prstGeom prst="rect">
              <a:avLst/>
            </a:prstGeom>
          </p:spPr>
        </p:pic>
      </p:grpSp>
      <p:sp>
        <p:nvSpPr>
          <p:cNvPr id="11" name="Text 1">
            <a:extLst>
              <a:ext uri="{FF2B5EF4-FFF2-40B4-BE49-F238E27FC236}">
                <a16:creationId xmlns:a16="http://schemas.microsoft.com/office/drawing/2014/main" id="{2BEEBE63-E79E-7E03-0AA5-CD823E3519CA}"/>
              </a:ext>
            </a:extLst>
          </p:cNvPr>
          <p:cNvSpPr/>
          <p:nvPr/>
        </p:nvSpPr>
        <p:spPr>
          <a:xfrm>
            <a:off x="565665" y="1207770"/>
            <a:ext cx="3127415" cy="998696"/>
          </a:xfrm>
          <a:prstGeom prst="rect">
            <a:avLst/>
          </a:prstGeom>
          <a:noFill/>
          <a:ln/>
        </p:spPr>
        <p:txBody>
          <a:bodyPr wrap="none" lIns="0" tIns="0" rIns="0" bIns="0" rtlCol="0" anchor="t"/>
          <a:lstStyle/>
          <a:p>
            <a:pPr>
              <a:lnSpc>
                <a:spcPts val="1900"/>
              </a:lnSpc>
            </a:pPr>
            <a:endParaRPr lang="en-US" sz="2000" dirty="0">
              <a:solidFill>
                <a:srgbClr val="F2E782"/>
              </a:solidFill>
              <a:latin typeface="Prata" pitchFamily="34" charset="0"/>
            </a:endParaRPr>
          </a:p>
          <a:p>
            <a:pPr>
              <a:lnSpc>
                <a:spcPts val="1900"/>
              </a:lnSpc>
            </a:pPr>
            <a:r>
              <a:rPr lang="en-US" sz="2000" dirty="0">
                <a:solidFill>
                  <a:srgbClr val="F2E782"/>
                </a:solidFill>
                <a:latin typeface="Prata" pitchFamily="34" charset="0"/>
              </a:rPr>
              <a:t>Domain Overview</a:t>
            </a:r>
          </a:p>
        </p:txBody>
      </p:sp>
      <p:sp>
        <p:nvSpPr>
          <p:cNvPr id="12" name="Text 2">
            <a:extLst>
              <a:ext uri="{FF2B5EF4-FFF2-40B4-BE49-F238E27FC236}">
                <a16:creationId xmlns:a16="http://schemas.microsoft.com/office/drawing/2014/main" id="{8312BD84-EC08-59CF-9F6C-1B7E7D2DCC5A}"/>
              </a:ext>
            </a:extLst>
          </p:cNvPr>
          <p:cNvSpPr/>
          <p:nvPr/>
        </p:nvSpPr>
        <p:spPr>
          <a:xfrm>
            <a:off x="268843" y="1816654"/>
            <a:ext cx="6848475" cy="1436133"/>
          </a:xfrm>
          <a:prstGeom prst="rect">
            <a:avLst/>
          </a:prstGeom>
          <a:noFill/>
          <a:ln/>
        </p:spPr>
        <p:txBody>
          <a:bodyPr wrap="square" lIns="0" tIns="0" rIns="0" bIns="0" rtlCol="0" anchor="t"/>
          <a:lstStyle/>
          <a:p>
            <a:pPr marL="342900" indent="-342900">
              <a:lnSpc>
                <a:spcPts val="1950"/>
              </a:lnSpc>
              <a:buSzPct val="100000"/>
              <a:buChar char="•"/>
            </a:pPr>
            <a:r>
              <a:rPr lang="en-US" dirty="0">
                <a:solidFill>
                  <a:srgbClr val="CFCBBF"/>
                </a:solidFill>
                <a:latin typeface="Raleway" pitchFamily="34" charset="0"/>
              </a:rPr>
              <a:t>Adventure Works operates in the manufacturing and retail domain, focusing on bicycles and bicycle-related components. The business handles end‑to‑end activities including production, sales, and distribution across multiple regions.</a:t>
            </a:r>
          </a:p>
        </p:txBody>
      </p:sp>
      <p:sp>
        <p:nvSpPr>
          <p:cNvPr id="15" name="Text 1">
            <a:extLst>
              <a:ext uri="{FF2B5EF4-FFF2-40B4-BE49-F238E27FC236}">
                <a16:creationId xmlns:a16="http://schemas.microsoft.com/office/drawing/2014/main" id="{62AB746C-BC5A-232C-8C81-9C761C7098EE}"/>
              </a:ext>
            </a:extLst>
          </p:cNvPr>
          <p:cNvSpPr/>
          <p:nvPr/>
        </p:nvSpPr>
        <p:spPr>
          <a:xfrm>
            <a:off x="565664" y="5685768"/>
            <a:ext cx="3127415" cy="998696"/>
          </a:xfrm>
          <a:prstGeom prst="rect">
            <a:avLst/>
          </a:prstGeom>
          <a:noFill/>
          <a:ln/>
        </p:spPr>
        <p:txBody>
          <a:bodyPr wrap="none" lIns="0" tIns="0" rIns="0" bIns="0" rtlCol="0" anchor="t"/>
          <a:lstStyle/>
          <a:p>
            <a:pPr>
              <a:lnSpc>
                <a:spcPts val="1900"/>
              </a:lnSpc>
            </a:pPr>
            <a:r>
              <a:rPr lang="en-US" sz="2000" dirty="0">
                <a:solidFill>
                  <a:srgbClr val="F2E782"/>
                </a:solidFill>
                <a:latin typeface="Prata" pitchFamily="34" charset="0"/>
              </a:rPr>
              <a:t>Goal of the Project</a:t>
            </a:r>
          </a:p>
        </p:txBody>
      </p:sp>
      <p:sp>
        <p:nvSpPr>
          <p:cNvPr id="16" name="Text 2">
            <a:extLst>
              <a:ext uri="{FF2B5EF4-FFF2-40B4-BE49-F238E27FC236}">
                <a16:creationId xmlns:a16="http://schemas.microsoft.com/office/drawing/2014/main" id="{76C90F9D-E097-D401-6844-DC5A5F0BF3ED}"/>
              </a:ext>
            </a:extLst>
          </p:cNvPr>
          <p:cNvSpPr/>
          <p:nvPr/>
        </p:nvSpPr>
        <p:spPr>
          <a:xfrm>
            <a:off x="268841" y="5966397"/>
            <a:ext cx="6848475" cy="1436133"/>
          </a:xfrm>
          <a:prstGeom prst="rect">
            <a:avLst/>
          </a:prstGeom>
          <a:noFill/>
          <a:ln/>
        </p:spPr>
        <p:txBody>
          <a:bodyPr wrap="square" lIns="0" tIns="0" rIns="0" bIns="0" rtlCol="0" anchor="t"/>
          <a:lstStyle/>
          <a:p>
            <a:pPr marL="342900" indent="-342900">
              <a:lnSpc>
                <a:spcPts val="1950"/>
              </a:lnSpc>
              <a:buSzPct val="100000"/>
              <a:buChar char="•"/>
            </a:pPr>
            <a:r>
              <a:rPr lang="en-US" dirty="0">
                <a:solidFill>
                  <a:srgbClr val="CFCBBF"/>
                </a:solidFill>
                <a:latin typeface="Raleway" pitchFamily="34" charset="0"/>
              </a:rPr>
              <a:t>The main goal is to analyze sales and profit performance and convert raw data into actionable insights that help stakeholders understand trends, identify high‑performing segments, and improve business strategies.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91264" y="998101"/>
            <a:ext cx="7775615" cy="527804"/>
          </a:xfrm>
          <a:prstGeom prst="rect">
            <a:avLst/>
          </a:prstGeom>
          <a:noFill/>
          <a:ln/>
        </p:spPr>
        <p:txBody>
          <a:bodyPr wrap="none" lIns="0" tIns="0" rIns="0" bIns="0" rtlCol="0" anchor="t"/>
          <a:lstStyle/>
          <a:p>
            <a:pPr marL="0" indent="0" algn="l">
              <a:lnSpc>
                <a:spcPts val="4150"/>
              </a:lnSpc>
              <a:buNone/>
            </a:pPr>
            <a:r>
              <a:rPr lang="en-US" sz="330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Data Overview</a:t>
            </a:r>
          </a:p>
        </p:txBody>
      </p:sp>
      <p:sp>
        <p:nvSpPr>
          <p:cNvPr id="4" name="Shape 1"/>
          <p:cNvSpPr/>
          <p:nvPr/>
        </p:nvSpPr>
        <p:spPr>
          <a:xfrm>
            <a:off x="591264" y="1779270"/>
            <a:ext cx="7961471" cy="1289209"/>
          </a:xfrm>
          <a:prstGeom prst="roundRect">
            <a:avLst>
              <a:gd name="adj" fmla="val 8511"/>
            </a:avLst>
          </a:prstGeom>
          <a:solidFill>
            <a:srgbClr val="1B1C1D"/>
          </a:solidFill>
          <a:ln w="22860">
            <a:solidFill>
              <a:srgbClr val="535455"/>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568404" y="1779270"/>
            <a:ext cx="91440" cy="1289209"/>
          </a:xfrm>
          <a:prstGeom prst="rect">
            <a:avLst/>
          </a:prstGeom>
        </p:spPr>
      </p:pic>
      <p:sp>
        <p:nvSpPr>
          <p:cNvPr id="6" name="Text 2"/>
          <p:cNvSpPr/>
          <p:nvPr/>
        </p:nvSpPr>
        <p:spPr>
          <a:xfrm>
            <a:off x="851535" y="1970961"/>
            <a:ext cx="2111812" cy="263962"/>
          </a:xfrm>
          <a:prstGeom prst="rect">
            <a:avLst/>
          </a:prstGeom>
          <a:noFill/>
          <a:ln/>
        </p:spPr>
        <p:txBody>
          <a:bodyPr wrap="none" lIns="0" tIns="0" rIns="0" bIns="0" rtlCol="0" anchor="t"/>
          <a:lstStyle/>
          <a:p>
            <a:pPr marL="0" indent="0" algn="l">
              <a:lnSpc>
                <a:spcPts val="2050"/>
              </a:lnSpc>
              <a:buNone/>
            </a:pPr>
            <a:r>
              <a:rPr lang="en-US" sz="1650" dirty="0">
                <a:solidFill>
                  <a:srgbClr val="CFCBBF"/>
                </a:solidFill>
                <a:latin typeface="Prata" pitchFamily="34" charset="0"/>
                <a:ea typeface="Prata" pitchFamily="34" charset="-122"/>
                <a:cs typeface="Prata" pitchFamily="34" charset="-120"/>
              </a:rPr>
              <a:t>Source &amp; Format</a:t>
            </a:r>
            <a:endParaRPr lang="en-US" sz="1650" dirty="0"/>
          </a:p>
        </p:txBody>
      </p:sp>
      <p:sp>
        <p:nvSpPr>
          <p:cNvPr id="7" name="Text 3"/>
          <p:cNvSpPr/>
          <p:nvPr/>
        </p:nvSpPr>
        <p:spPr>
          <a:xfrm>
            <a:off x="851535" y="2336244"/>
            <a:ext cx="7509510" cy="540544"/>
          </a:xfrm>
          <a:prstGeom prst="rect">
            <a:avLst/>
          </a:prstGeom>
          <a:noFill/>
          <a:ln/>
        </p:spPr>
        <p:txBody>
          <a:bodyPr wrap="square" lIns="0" tIns="0" rIns="0" bIns="0" rtlCol="0" anchor="t"/>
          <a:lstStyle/>
          <a:p>
            <a:pPr marL="0" indent="0" algn="l">
              <a:lnSpc>
                <a:spcPts val="2100"/>
              </a:lnSpc>
              <a:buNone/>
            </a:pPr>
            <a:r>
              <a:rPr lang="en-US" sz="1300" dirty="0">
                <a:solidFill>
                  <a:srgbClr val="CFCBBF"/>
                </a:solidFill>
                <a:latin typeface="Raleway" pitchFamily="34" charset="0"/>
                <a:ea typeface="Raleway" pitchFamily="34" charset="-122"/>
                <a:cs typeface="Raleway" pitchFamily="34" charset="-120"/>
              </a:rPr>
              <a:t>Data provided in </a:t>
            </a:r>
            <a:r>
              <a:rPr lang="en-US" sz="1300" b="1" dirty="0">
                <a:solidFill>
                  <a:srgbClr val="CFCBBF"/>
                </a:solidFill>
                <a:latin typeface="Raleway" pitchFamily="34" charset="0"/>
                <a:ea typeface="Raleway" pitchFamily="34" charset="-122"/>
                <a:cs typeface="Raleway" pitchFamily="34" charset="-120"/>
              </a:rPr>
              <a:t>Excel format</a:t>
            </a:r>
            <a:r>
              <a:rPr lang="en-US" sz="1300" dirty="0">
                <a:solidFill>
                  <a:srgbClr val="CFCBBF"/>
                </a:solidFill>
                <a:latin typeface="Raleway" pitchFamily="34" charset="0"/>
                <a:ea typeface="Raleway" pitchFamily="34" charset="-122"/>
                <a:cs typeface="Raleway" pitchFamily="34" charset="-120"/>
              </a:rPr>
              <a:t>, comprising multiple fact and dimension tables crucial for comprehensive analysis.</a:t>
            </a:r>
            <a:endParaRPr lang="en-US" sz="1300" dirty="0"/>
          </a:p>
        </p:txBody>
      </p:sp>
      <p:sp>
        <p:nvSpPr>
          <p:cNvPr id="8" name="Shape 4"/>
          <p:cNvSpPr/>
          <p:nvPr/>
        </p:nvSpPr>
        <p:spPr>
          <a:xfrm>
            <a:off x="591264" y="3237309"/>
            <a:ext cx="7961471" cy="1348264"/>
          </a:xfrm>
          <a:prstGeom prst="roundRect">
            <a:avLst>
              <a:gd name="adj" fmla="val 8138"/>
            </a:avLst>
          </a:prstGeom>
          <a:solidFill>
            <a:srgbClr val="1B1C1D"/>
          </a:solidFill>
          <a:ln w="22860">
            <a:solidFill>
              <a:srgbClr val="535455"/>
            </a:solidFill>
            <a:prstDash val="solid"/>
          </a:ln>
        </p:spPr>
        <p:txBody>
          <a:bodyPr/>
          <a:lstStyle/>
          <a:p>
            <a:endParaRPr lang="en-US"/>
          </a:p>
        </p:txBody>
      </p:sp>
      <p:pic>
        <p:nvPicPr>
          <p:cNvPr id="9" name="Image 2" descr="preencoded.png"/>
          <p:cNvPicPr>
            <a:picLocks noChangeAspect="1"/>
          </p:cNvPicPr>
          <p:nvPr/>
        </p:nvPicPr>
        <p:blipFill>
          <a:blip r:embed="rId5"/>
          <a:stretch>
            <a:fillRect/>
          </a:stretch>
        </p:blipFill>
        <p:spPr>
          <a:xfrm>
            <a:off x="568404" y="3237309"/>
            <a:ext cx="91440" cy="1348264"/>
          </a:xfrm>
          <a:prstGeom prst="rect">
            <a:avLst/>
          </a:prstGeom>
        </p:spPr>
      </p:pic>
      <p:sp>
        <p:nvSpPr>
          <p:cNvPr id="10" name="Text 5"/>
          <p:cNvSpPr/>
          <p:nvPr/>
        </p:nvSpPr>
        <p:spPr>
          <a:xfrm>
            <a:off x="851535" y="3429000"/>
            <a:ext cx="2111812" cy="263962"/>
          </a:xfrm>
          <a:prstGeom prst="rect">
            <a:avLst/>
          </a:prstGeom>
          <a:noFill/>
          <a:ln/>
        </p:spPr>
        <p:txBody>
          <a:bodyPr wrap="none" lIns="0" tIns="0" rIns="0" bIns="0" rtlCol="0" anchor="t"/>
          <a:lstStyle/>
          <a:p>
            <a:pPr marL="0" indent="0" algn="l">
              <a:lnSpc>
                <a:spcPts val="2050"/>
              </a:lnSpc>
              <a:buNone/>
            </a:pPr>
            <a:r>
              <a:rPr lang="en-US" sz="1650" dirty="0">
                <a:solidFill>
                  <a:srgbClr val="CFCBBF"/>
                </a:solidFill>
                <a:latin typeface="Prata" pitchFamily="34" charset="0"/>
                <a:ea typeface="Prata" pitchFamily="34" charset="-122"/>
                <a:cs typeface="Prata" pitchFamily="34" charset="-120"/>
              </a:rPr>
              <a:t>Key Data Files</a:t>
            </a:r>
            <a:endParaRPr lang="en-US" sz="1650" dirty="0"/>
          </a:p>
        </p:txBody>
      </p:sp>
      <p:sp>
        <p:nvSpPr>
          <p:cNvPr id="11" name="Text 6"/>
          <p:cNvSpPr/>
          <p:nvPr/>
        </p:nvSpPr>
        <p:spPr>
          <a:xfrm>
            <a:off x="851535" y="3794284"/>
            <a:ext cx="7509510" cy="270272"/>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CFCBBF"/>
                </a:solidFill>
                <a:latin typeface="Raleway" pitchFamily="34" charset="0"/>
                <a:ea typeface="Raleway" pitchFamily="34" charset="-122"/>
                <a:cs typeface="Raleway" pitchFamily="34" charset="-120"/>
              </a:rPr>
              <a:t>Fact Tables: FactInternetSales, FactInternetSales_New</a:t>
            </a:r>
            <a:endParaRPr lang="en-US" sz="1300" dirty="0"/>
          </a:p>
        </p:txBody>
      </p:sp>
      <p:sp>
        <p:nvSpPr>
          <p:cNvPr id="12" name="Text 7"/>
          <p:cNvSpPr/>
          <p:nvPr/>
        </p:nvSpPr>
        <p:spPr>
          <a:xfrm>
            <a:off x="851535" y="4123611"/>
            <a:ext cx="7509510" cy="270272"/>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CFCBBF"/>
                </a:solidFill>
                <a:latin typeface="Raleway" pitchFamily="34" charset="0"/>
                <a:ea typeface="Raleway" pitchFamily="34" charset="-122"/>
                <a:cs typeface="Raleway" pitchFamily="34" charset="-120"/>
              </a:rPr>
              <a:t>Dimension Tables: DimProduct, DimCustomer, DimDate, DimSalesTerritory</a:t>
            </a:r>
            <a:endParaRPr lang="en-US" sz="1300" dirty="0"/>
          </a:p>
        </p:txBody>
      </p:sp>
      <p:sp>
        <p:nvSpPr>
          <p:cNvPr id="13" name="Shape 8"/>
          <p:cNvSpPr/>
          <p:nvPr/>
        </p:nvSpPr>
        <p:spPr>
          <a:xfrm>
            <a:off x="591264" y="4754404"/>
            <a:ext cx="7961471" cy="1018937"/>
          </a:xfrm>
          <a:prstGeom prst="roundRect">
            <a:avLst>
              <a:gd name="adj" fmla="val 10769"/>
            </a:avLst>
          </a:prstGeom>
          <a:solidFill>
            <a:srgbClr val="1B1C1D"/>
          </a:solidFill>
          <a:ln w="22860">
            <a:solidFill>
              <a:srgbClr val="535455"/>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568404" y="4754404"/>
            <a:ext cx="91440" cy="1018937"/>
          </a:xfrm>
          <a:prstGeom prst="rect">
            <a:avLst/>
          </a:prstGeom>
        </p:spPr>
      </p:pic>
      <p:sp>
        <p:nvSpPr>
          <p:cNvPr id="15" name="Text 9"/>
          <p:cNvSpPr/>
          <p:nvPr/>
        </p:nvSpPr>
        <p:spPr>
          <a:xfrm>
            <a:off x="851535" y="4946094"/>
            <a:ext cx="2111812" cy="263962"/>
          </a:xfrm>
          <a:prstGeom prst="rect">
            <a:avLst/>
          </a:prstGeom>
          <a:noFill/>
          <a:ln/>
        </p:spPr>
        <p:txBody>
          <a:bodyPr wrap="none" lIns="0" tIns="0" rIns="0" bIns="0" rtlCol="0" anchor="t"/>
          <a:lstStyle/>
          <a:p>
            <a:pPr marL="0" indent="0" algn="l">
              <a:lnSpc>
                <a:spcPts val="2050"/>
              </a:lnSpc>
              <a:buNone/>
            </a:pPr>
            <a:r>
              <a:rPr lang="en-US" sz="1650" dirty="0">
                <a:solidFill>
                  <a:srgbClr val="CFCBBF"/>
                </a:solidFill>
                <a:latin typeface="Prata" pitchFamily="34" charset="0"/>
                <a:ea typeface="Prata" pitchFamily="34" charset="-122"/>
                <a:cs typeface="Prata" pitchFamily="34" charset="-120"/>
              </a:rPr>
              <a:t>Timeline &amp; Volume</a:t>
            </a:r>
            <a:endParaRPr lang="en-US" sz="1650" dirty="0"/>
          </a:p>
        </p:txBody>
      </p:sp>
      <p:sp>
        <p:nvSpPr>
          <p:cNvPr id="16" name="Text 10"/>
          <p:cNvSpPr/>
          <p:nvPr/>
        </p:nvSpPr>
        <p:spPr>
          <a:xfrm>
            <a:off x="851535" y="5311378"/>
            <a:ext cx="7509510" cy="270272"/>
          </a:xfrm>
          <a:prstGeom prst="rect">
            <a:avLst/>
          </a:prstGeom>
          <a:noFill/>
          <a:ln/>
        </p:spPr>
        <p:txBody>
          <a:bodyPr wrap="none" lIns="0" tIns="0" rIns="0" bIns="0" rtlCol="0" anchor="t"/>
          <a:lstStyle/>
          <a:p>
            <a:pPr marL="0" indent="0" algn="l">
              <a:lnSpc>
                <a:spcPts val="2100"/>
              </a:lnSpc>
              <a:buNone/>
            </a:pPr>
            <a:r>
              <a:rPr lang="en-US" sz="1300" dirty="0">
                <a:solidFill>
                  <a:srgbClr val="CFCBBF"/>
                </a:solidFill>
                <a:latin typeface="Raleway" pitchFamily="34" charset="0"/>
                <a:ea typeface="Raleway" pitchFamily="34" charset="-122"/>
                <a:cs typeface="Raleway" pitchFamily="34" charset="-120"/>
              </a:rPr>
              <a:t>Covers sales and profit data from </a:t>
            </a:r>
            <a:r>
              <a:rPr lang="en-US" sz="1300" b="1" dirty="0">
                <a:solidFill>
                  <a:srgbClr val="CFCBBF"/>
                </a:solidFill>
                <a:latin typeface="Raleway" pitchFamily="34" charset="0"/>
                <a:ea typeface="Raleway" pitchFamily="34" charset="-122"/>
                <a:cs typeface="Raleway" pitchFamily="34" charset="-120"/>
              </a:rPr>
              <a:t>2010 to 2014</a:t>
            </a:r>
            <a:r>
              <a:rPr lang="en-US" sz="1300" dirty="0">
                <a:solidFill>
                  <a:srgbClr val="CFCBBF"/>
                </a:solidFill>
                <a:latin typeface="Raleway" pitchFamily="34" charset="0"/>
                <a:ea typeface="Raleway" pitchFamily="34" charset="-122"/>
                <a:cs typeface="Raleway" pitchFamily="34" charset="-120"/>
              </a:rPr>
              <a:t>, including Sixty thousands of transactional records.</a:t>
            </a:r>
            <a:endParaRPr lang="en-US" sz="1300" dirty="0"/>
          </a:p>
        </p:txBody>
      </p:sp>
      <p:sp>
        <p:nvSpPr>
          <p:cNvPr id="17" name="Shape 11"/>
          <p:cNvSpPr/>
          <p:nvPr/>
        </p:nvSpPr>
        <p:spPr>
          <a:xfrm>
            <a:off x="591264" y="5942171"/>
            <a:ext cx="7961471" cy="1289209"/>
          </a:xfrm>
          <a:prstGeom prst="roundRect">
            <a:avLst>
              <a:gd name="adj" fmla="val 8511"/>
            </a:avLst>
          </a:prstGeom>
          <a:solidFill>
            <a:srgbClr val="1B1C1D"/>
          </a:solidFill>
          <a:ln w="22860">
            <a:solidFill>
              <a:srgbClr val="535455"/>
            </a:solidFill>
            <a:prstDash val="solid"/>
          </a:ln>
        </p:spPr>
        <p:txBody>
          <a:bodyPr/>
          <a:lstStyle/>
          <a:p>
            <a:endParaRPr lang="en-US"/>
          </a:p>
        </p:txBody>
      </p:sp>
      <p:pic>
        <p:nvPicPr>
          <p:cNvPr id="18" name="Image 4" descr="preencoded.png"/>
          <p:cNvPicPr>
            <a:picLocks noChangeAspect="1"/>
          </p:cNvPicPr>
          <p:nvPr/>
        </p:nvPicPr>
        <p:blipFill>
          <a:blip r:embed="rId4"/>
          <a:stretch>
            <a:fillRect/>
          </a:stretch>
        </p:blipFill>
        <p:spPr>
          <a:xfrm>
            <a:off x="568404" y="5942171"/>
            <a:ext cx="91440" cy="1289209"/>
          </a:xfrm>
          <a:prstGeom prst="rect">
            <a:avLst/>
          </a:prstGeom>
        </p:spPr>
      </p:pic>
      <p:sp>
        <p:nvSpPr>
          <p:cNvPr id="19" name="Text 12"/>
          <p:cNvSpPr/>
          <p:nvPr/>
        </p:nvSpPr>
        <p:spPr>
          <a:xfrm>
            <a:off x="851535" y="6133862"/>
            <a:ext cx="2111812" cy="263962"/>
          </a:xfrm>
          <a:prstGeom prst="rect">
            <a:avLst/>
          </a:prstGeom>
          <a:noFill/>
          <a:ln/>
        </p:spPr>
        <p:txBody>
          <a:bodyPr wrap="none" lIns="0" tIns="0" rIns="0" bIns="0" rtlCol="0" anchor="t"/>
          <a:lstStyle/>
          <a:p>
            <a:pPr marL="0" indent="0" algn="l">
              <a:lnSpc>
                <a:spcPts val="2050"/>
              </a:lnSpc>
              <a:buNone/>
            </a:pPr>
            <a:r>
              <a:rPr lang="en-US" sz="1650" dirty="0">
                <a:solidFill>
                  <a:srgbClr val="CFCBBF"/>
                </a:solidFill>
                <a:latin typeface="Prata" pitchFamily="34" charset="0"/>
                <a:ea typeface="Prata" pitchFamily="34" charset="-122"/>
                <a:cs typeface="Prata" pitchFamily="34" charset="-120"/>
              </a:rPr>
              <a:t>Core Metrics</a:t>
            </a:r>
            <a:endParaRPr lang="en-US" sz="1650" dirty="0"/>
          </a:p>
        </p:txBody>
      </p:sp>
      <p:sp>
        <p:nvSpPr>
          <p:cNvPr id="20" name="Text 13"/>
          <p:cNvSpPr/>
          <p:nvPr/>
        </p:nvSpPr>
        <p:spPr>
          <a:xfrm>
            <a:off x="851535" y="6499146"/>
            <a:ext cx="7509510" cy="540544"/>
          </a:xfrm>
          <a:prstGeom prst="rect">
            <a:avLst/>
          </a:prstGeom>
          <a:noFill/>
          <a:ln/>
        </p:spPr>
        <p:txBody>
          <a:bodyPr wrap="square" lIns="0" tIns="0" rIns="0" bIns="0" rtlCol="0" anchor="t"/>
          <a:lstStyle/>
          <a:p>
            <a:pPr marL="0" indent="0" algn="l">
              <a:lnSpc>
                <a:spcPts val="2100"/>
              </a:lnSpc>
              <a:buNone/>
            </a:pPr>
            <a:r>
              <a:rPr lang="en-US" sz="1300" dirty="0">
                <a:solidFill>
                  <a:srgbClr val="CFCBBF"/>
                </a:solidFill>
                <a:latin typeface="Raleway" pitchFamily="34" charset="0"/>
                <a:ea typeface="Raleway" pitchFamily="34" charset="-122"/>
                <a:cs typeface="Raleway" pitchFamily="34" charset="-120"/>
              </a:rPr>
              <a:t>Key columns include Order Date, Sales Amount, Production Cost, Profit, and Category, Sub Category Customer, and region data.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74671"/>
            <a:ext cx="13042821" cy="1417558"/>
          </a:xfrm>
          <a:prstGeom prst="rect">
            <a:avLst/>
          </a:prstGeom>
          <a:noFill/>
          <a:ln/>
        </p:spPr>
        <p:txBody>
          <a:bodyPr wrap="square" lIns="0" tIns="0" rIns="0" bIns="0" rtlCol="0" anchor="t"/>
          <a:lstStyle/>
          <a:p>
            <a:pPr marL="0" indent="0" algn="l">
              <a:lnSpc>
                <a:spcPts val="5550"/>
              </a:lnSpc>
              <a:buNone/>
            </a:pPr>
            <a:r>
              <a:rPr lang="en-US" sz="445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Objectives: What We Aimed to Discover</a:t>
            </a:r>
          </a:p>
        </p:txBody>
      </p:sp>
      <p:sp>
        <p:nvSpPr>
          <p:cNvPr id="3" name="Text 1"/>
          <p:cNvSpPr/>
          <p:nvPr/>
        </p:nvSpPr>
        <p:spPr>
          <a:xfrm>
            <a:off x="793789" y="2313385"/>
            <a:ext cx="13042821" cy="1471255"/>
          </a:xfrm>
          <a:prstGeom prst="rect">
            <a:avLst/>
          </a:prstGeom>
          <a:noFill/>
          <a:ln/>
        </p:spPr>
        <p:txBody>
          <a:bodyPr wrap="square" lIns="0" tIns="0" rIns="0" bIns="0" rtlCol="0" anchor="t"/>
          <a:lstStyle/>
          <a:p>
            <a:r>
              <a:rPr lang="en-US" sz="1750" dirty="0">
                <a:solidFill>
                  <a:srgbClr val="CFCBBF"/>
                </a:solidFill>
                <a:latin typeface="Raleway" pitchFamily="34" charset="0"/>
              </a:rPr>
              <a:t>Our analysis was designed based on client requirements, with a focus on understanding business performance, identifying growth opportunities, and supporting data-driven decision-making.</a:t>
            </a:r>
          </a:p>
          <a:p>
            <a:r>
              <a:rPr lang="en-US" sz="1750" dirty="0">
                <a:solidFill>
                  <a:srgbClr val="CFCBBF"/>
                </a:solidFill>
                <a:latin typeface="Raleway" pitchFamily="34" charset="0"/>
              </a:rPr>
              <a:t>The main goal of this project is to convert raw data into meaningful insights that help stakeholders clearly understand sales, profit, and customer behavior</a:t>
            </a:r>
            <a:r>
              <a:rPr lang="en-US" sz="1600" dirty="0"/>
              <a:t>.</a:t>
            </a:r>
            <a:r>
              <a:rPr lang="en-US" sz="1750" dirty="0">
                <a:solidFill>
                  <a:srgbClr val="CFCBBF"/>
                </a:solidFill>
                <a:latin typeface="Raleway" pitchFamily="34" charset="0"/>
                <a:ea typeface="Raleway" pitchFamily="34" charset="-122"/>
                <a:cs typeface="Raleway" pitchFamily="34" charset="-120"/>
              </a:rPr>
              <a:t>.</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00" y="4069318"/>
            <a:ext cx="340162" cy="340162"/>
          </a:xfrm>
          <a:prstGeom prst="rect">
            <a:avLst/>
          </a:prstGeom>
        </p:spPr>
      </p:pic>
      <p:sp>
        <p:nvSpPr>
          <p:cNvPr id="5" name="Text 2"/>
          <p:cNvSpPr/>
          <p:nvPr/>
        </p:nvSpPr>
        <p:spPr>
          <a:xfrm>
            <a:off x="1530906" y="4026813"/>
            <a:ext cx="3753326" cy="425291"/>
          </a:xfrm>
          <a:prstGeom prst="rect">
            <a:avLst/>
          </a:prstGeom>
          <a:noFill/>
          <a:ln/>
        </p:spPr>
        <p:txBody>
          <a:bodyPr wrap="none" lIns="0" tIns="0" rIns="0" bIns="0" rtlCol="0" anchor="t"/>
          <a:lstStyle/>
          <a:p>
            <a:pPr marL="0" indent="0" algn="l">
              <a:lnSpc>
                <a:spcPts val="3300"/>
              </a:lnSpc>
              <a:buNone/>
            </a:pPr>
            <a:r>
              <a:rPr lang="en-US" sz="2650" dirty="0">
                <a:solidFill>
                  <a:srgbClr val="CFCBBF"/>
                </a:solidFill>
                <a:latin typeface="Prata" pitchFamily="34" charset="0"/>
                <a:ea typeface="Prata" pitchFamily="34" charset="-122"/>
                <a:cs typeface="Prata" pitchFamily="34" charset="-120"/>
              </a:rPr>
              <a:t>Year-wise Sales Trends</a:t>
            </a:r>
            <a:endParaRPr lang="en-US" sz="2650" dirty="0"/>
          </a:p>
        </p:txBody>
      </p:sp>
      <p:sp>
        <p:nvSpPr>
          <p:cNvPr id="6" name="Text 3"/>
          <p:cNvSpPr/>
          <p:nvPr/>
        </p:nvSpPr>
        <p:spPr>
          <a:xfrm>
            <a:off x="1530906" y="4588193"/>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Understanding annual performance fluctuations and identifying peak periods.</a:t>
            </a:r>
            <a:endParaRPr lang="en-US" sz="17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1895" y="4069318"/>
            <a:ext cx="340162" cy="340162"/>
          </a:xfrm>
          <a:prstGeom prst="rect">
            <a:avLst/>
          </a:prstGeom>
        </p:spPr>
      </p:pic>
      <p:sp>
        <p:nvSpPr>
          <p:cNvPr id="8" name="Text 4"/>
          <p:cNvSpPr/>
          <p:nvPr/>
        </p:nvSpPr>
        <p:spPr>
          <a:xfrm>
            <a:off x="8194000" y="4026813"/>
            <a:ext cx="4231362" cy="425291"/>
          </a:xfrm>
          <a:prstGeom prst="rect">
            <a:avLst/>
          </a:prstGeom>
          <a:noFill/>
          <a:ln/>
        </p:spPr>
        <p:txBody>
          <a:bodyPr wrap="none" lIns="0" tIns="0" rIns="0" bIns="0" rtlCol="0" anchor="t"/>
          <a:lstStyle/>
          <a:p>
            <a:pPr marL="0" indent="0" algn="l">
              <a:lnSpc>
                <a:spcPts val="3300"/>
              </a:lnSpc>
              <a:buNone/>
            </a:pPr>
            <a:r>
              <a:rPr lang="en-US" sz="2650" dirty="0">
                <a:solidFill>
                  <a:srgbClr val="CFCBBF"/>
                </a:solidFill>
                <a:latin typeface="Prata" pitchFamily="34" charset="0"/>
                <a:ea typeface="Prata" pitchFamily="34" charset="-122"/>
                <a:cs typeface="Prata" pitchFamily="34" charset="-120"/>
              </a:rPr>
              <a:t>Top 5 Customers by Profit</a:t>
            </a:r>
            <a:endParaRPr lang="en-US" sz="2650" dirty="0"/>
          </a:p>
        </p:txBody>
      </p:sp>
      <p:sp>
        <p:nvSpPr>
          <p:cNvPr id="9" name="Text 5"/>
          <p:cNvSpPr/>
          <p:nvPr/>
        </p:nvSpPr>
        <p:spPr>
          <a:xfrm>
            <a:off x="8194000" y="4588193"/>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Pinpointing key customer segments for targeted engagement and loyalty programs.</a:t>
            </a:r>
            <a:endParaRPr lang="en-US" sz="17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00" y="5810131"/>
            <a:ext cx="340162" cy="340162"/>
          </a:xfrm>
          <a:prstGeom prst="rect">
            <a:avLst/>
          </a:prstGeom>
        </p:spPr>
      </p:pic>
      <p:sp>
        <p:nvSpPr>
          <p:cNvPr id="11" name="Text 6"/>
          <p:cNvSpPr/>
          <p:nvPr/>
        </p:nvSpPr>
        <p:spPr>
          <a:xfrm>
            <a:off x="1530906" y="5767626"/>
            <a:ext cx="4047649" cy="425291"/>
          </a:xfrm>
          <a:prstGeom prst="rect">
            <a:avLst/>
          </a:prstGeom>
          <a:noFill/>
          <a:ln/>
        </p:spPr>
        <p:txBody>
          <a:bodyPr wrap="none" lIns="0" tIns="0" rIns="0" bIns="0" rtlCol="0" anchor="t"/>
          <a:lstStyle/>
          <a:p>
            <a:pPr marL="0" indent="0" algn="l">
              <a:lnSpc>
                <a:spcPts val="3300"/>
              </a:lnSpc>
              <a:buNone/>
            </a:pPr>
            <a:r>
              <a:rPr lang="en-US" sz="2650" dirty="0">
                <a:solidFill>
                  <a:srgbClr val="CFCBBF"/>
                </a:solidFill>
                <a:latin typeface="Prata" pitchFamily="34" charset="0"/>
                <a:ea typeface="Prata" pitchFamily="34" charset="-122"/>
                <a:cs typeface="Prata" pitchFamily="34" charset="-120"/>
              </a:rPr>
              <a:t>Top 10 Products by Sales</a:t>
            </a:r>
            <a:endParaRPr lang="en-US" sz="2650" dirty="0"/>
          </a:p>
        </p:txBody>
      </p:sp>
      <p:sp>
        <p:nvSpPr>
          <p:cNvPr id="12" name="Text 7"/>
          <p:cNvSpPr/>
          <p:nvPr/>
        </p:nvSpPr>
        <p:spPr>
          <a:xfrm>
            <a:off x="1530906" y="6329005"/>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Highlighting best-selling products to inform inventory and marketing strategies.</a:t>
            </a:r>
            <a:endParaRPr lang="en-US" sz="175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1895" y="5810131"/>
            <a:ext cx="340162" cy="340162"/>
          </a:xfrm>
          <a:prstGeom prst="rect">
            <a:avLst/>
          </a:prstGeom>
        </p:spPr>
      </p:pic>
      <p:sp>
        <p:nvSpPr>
          <p:cNvPr id="14" name="Text 8"/>
          <p:cNvSpPr/>
          <p:nvPr/>
        </p:nvSpPr>
        <p:spPr>
          <a:xfrm>
            <a:off x="8194000" y="5767626"/>
            <a:ext cx="5571173" cy="425291"/>
          </a:xfrm>
          <a:prstGeom prst="rect">
            <a:avLst/>
          </a:prstGeom>
          <a:noFill/>
          <a:ln/>
        </p:spPr>
        <p:txBody>
          <a:bodyPr wrap="none" lIns="0" tIns="0" rIns="0" bIns="0" rtlCol="0" anchor="t"/>
          <a:lstStyle/>
          <a:p>
            <a:pPr marL="0" indent="0" algn="l">
              <a:lnSpc>
                <a:spcPts val="3300"/>
              </a:lnSpc>
              <a:buNone/>
            </a:pPr>
            <a:r>
              <a:rPr lang="en-US" sz="2650" dirty="0">
                <a:solidFill>
                  <a:srgbClr val="CFCBBF"/>
                </a:solidFill>
                <a:latin typeface="Prata" pitchFamily="34" charset="0"/>
                <a:ea typeface="Prata" pitchFamily="34" charset="-122"/>
                <a:cs typeface="Prata" pitchFamily="34" charset="-120"/>
              </a:rPr>
              <a:t>Region and Country Sales Insights</a:t>
            </a:r>
            <a:endParaRPr lang="en-US" sz="2650" dirty="0"/>
          </a:p>
        </p:txBody>
      </p:sp>
      <p:grpSp>
        <p:nvGrpSpPr>
          <p:cNvPr id="17" name="Group 16">
            <a:extLst>
              <a:ext uri="{FF2B5EF4-FFF2-40B4-BE49-F238E27FC236}">
                <a16:creationId xmlns:a16="http://schemas.microsoft.com/office/drawing/2014/main" id="{89075D32-A3EE-EA9E-7FE4-02F411624C2D}"/>
              </a:ext>
            </a:extLst>
          </p:cNvPr>
          <p:cNvGrpSpPr/>
          <p:nvPr/>
        </p:nvGrpSpPr>
        <p:grpSpPr>
          <a:xfrm>
            <a:off x="8194000" y="6329005"/>
            <a:ext cx="6303050" cy="1797959"/>
            <a:chOff x="8194000" y="6329005"/>
            <a:chExt cx="6303050" cy="1797959"/>
          </a:xfrm>
        </p:grpSpPr>
        <p:sp>
          <p:nvSpPr>
            <p:cNvPr id="15" name="Text 9"/>
            <p:cNvSpPr/>
            <p:nvPr/>
          </p:nvSpPr>
          <p:spPr>
            <a:xfrm>
              <a:off x="8194000" y="6329005"/>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Analyzing geographical performance to optimize distribution and market penetration.</a:t>
              </a:r>
              <a:endParaRPr lang="en-US" sz="1750" dirty="0"/>
            </a:p>
          </p:txBody>
        </p:sp>
        <p:sp>
          <p:nvSpPr>
            <p:cNvPr id="16" name="Rectangle 15">
              <a:extLst>
                <a:ext uri="{FF2B5EF4-FFF2-40B4-BE49-F238E27FC236}">
                  <a16:creationId xmlns:a16="http://schemas.microsoft.com/office/drawing/2014/main" id="{CED1FBED-DA1C-2D4C-E8D8-532A721562A4}"/>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513" y="723543"/>
            <a:ext cx="12901374" cy="1274683"/>
          </a:xfrm>
          <a:prstGeom prst="rect">
            <a:avLst/>
          </a:prstGeom>
          <a:noFill/>
          <a:ln/>
        </p:spPr>
        <p:txBody>
          <a:bodyPr wrap="square" lIns="0" tIns="0" rIns="0" bIns="0" rtlCol="0" anchor="t"/>
          <a:lstStyle/>
          <a:p>
            <a:pPr marL="0" indent="0" algn="l">
              <a:lnSpc>
                <a:spcPts val="5000"/>
              </a:lnSpc>
              <a:buNone/>
            </a:pPr>
            <a:r>
              <a:rPr lang="en-US" sz="400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Process: Data Preparation to Modeling</a:t>
            </a:r>
          </a:p>
        </p:txBody>
      </p:sp>
      <p:sp>
        <p:nvSpPr>
          <p:cNvPr id="3" name="Text 1"/>
          <p:cNvSpPr/>
          <p:nvPr/>
        </p:nvSpPr>
        <p:spPr>
          <a:xfrm>
            <a:off x="864513" y="2406134"/>
            <a:ext cx="12901374" cy="326231"/>
          </a:xfrm>
          <a:prstGeom prst="rect">
            <a:avLst/>
          </a:prstGeom>
          <a:noFill/>
          <a:ln/>
        </p:spPr>
        <p:txBody>
          <a:bodyPr wrap="non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Our robust process ensures data integrity and meaningful insights.</a:t>
            </a:r>
            <a:endParaRPr lang="en-US" sz="1600" dirty="0"/>
          </a:p>
        </p:txBody>
      </p:sp>
      <p:sp>
        <p:nvSpPr>
          <p:cNvPr id="4" name="Text 2"/>
          <p:cNvSpPr/>
          <p:nvPr/>
        </p:nvSpPr>
        <p:spPr>
          <a:xfrm>
            <a:off x="2201942" y="3474720"/>
            <a:ext cx="2549604" cy="318611"/>
          </a:xfrm>
          <a:prstGeom prst="rect">
            <a:avLst/>
          </a:prstGeom>
          <a:noFill/>
          <a:ln/>
        </p:spPr>
        <p:txBody>
          <a:bodyPr wrap="none" lIns="0" tIns="0" rIns="0" bIns="0" rtlCol="0" anchor="t"/>
          <a:lstStyle/>
          <a:p>
            <a:pPr marL="0" indent="0" algn="r">
              <a:lnSpc>
                <a:spcPts val="2500"/>
              </a:lnSpc>
              <a:buNone/>
            </a:pPr>
            <a:r>
              <a:rPr lang="en-US" sz="2000" dirty="0">
                <a:solidFill>
                  <a:srgbClr val="F2E782"/>
                </a:solidFill>
                <a:latin typeface="Prata" pitchFamily="34" charset="0"/>
              </a:rPr>
              <a:t>Data Collection</a:t>
            </a:r>
          </a:p>
        </p:txBody>
      </p:sp>
      <p:sp>
        <p:nvSpPr>
          <p:cNvPr id="5" name="Text 3"/>
          <p:cNvSpPr/>
          <p:nvPr/>
        </p:nvSpPr>
        <p:spPr>
          <a:xfrm>
            <a:off x="864513" y="3915608"/>
            <a:ext cx="3887033" cy="652462"/>
          </a:xfrm>
          <a:prstGeom prst="rect">
            <a:avLst/>
          </a:prstGeom>
          <a:noFill/>
          <a:ln/>
        </p:spPr>
        <p:txBody>
          <a:bodyPr wrap="square" lIns="0" tIns="0" rIns="0" bIns="0" rtlCol="0" anchor="t"/>
          <a:lstStyle/>
          <a:p>
            <a:pPr marL="0" indent="0" algn="r">
              <a:lnSpc>
                <a:spcPts val="2550"/>
              </a:lnSpc>
              <a:buNone/>
            </a:pPr>
            <a:r>
              <a:rPr lang="en-US" sz="1600" dirty="0">
                <a:solidFill>
                  <a:srgbClr val="CFCBBF"/>
                </a:solidFill>
                <a:latin typeface="Raleway" pitchFamily="34" charset="0"/>
                <a:ea typeface="Raleway" pitchFamily="34" charset="-122"/>
                <a:cs typeface="Raleway" pitchFamily="34" charset="-120"/>
              </a:rPr>
              <a:t>All Excel files imported into Power BI; initial consistency verification.</a:t>
            </a:r>
            <a:endParaRPr lang="en-US" sz="1600" dirty="0"/>
          </a:p>
        </p:txBody>
      </p:sp>
      <p:pic>
        <p:nvPicPr>
          <p:cNvPr id="6" name="Image 0" descr="preencoded.png"/>
          <p:cNvPicPr>
            <a:picLocks noChangeAspect="1"/>
          </p:cNvPicPr>
          <p:nvPr/>
        </p:nvPicPr>
        <p:blipFill>
          <a:blip r:embed="rId3"/>
          <a:stretch>
            <a:fillRect/>
          </a:stretch>
        </p:blipFill>
        <p:spPr>
          <a:xfrm>
            <a:off x="5057418" y="2976205"/>
            <a:ext cx="4515445" cy="4515445"/>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62663" y="3946327"/>
            <a:ext cx="305157" cy="305157"/>
          </a:xfrm>
          <a:prstGeom prst="rect">
            <a:avLst/>
          </a:prstGeom>
        </p:spPr>
      </p:pic>
      <p:sp>
        <p:nvSpPr>
          <p:cNvPr id="8" name="Text 4"/>
          <p:cNvSpPr/>
          <p:nvPr/>
        </p:nvSpPr>
        <p:spPr>
          <a:xfrm>
            <a:off x="9878735" y="2961799"/>
            <a:ext cx="2549604" cy="318611"/>
          </a:xfrm>
          <a:prstGeom prst="rect">
            <a:avLst/>
          </a:prstGeom>
          <a:noFill/>
          <a:ln/>
        </p:spPr>
        <p:txBody>
          <a:bodyPr wrap="none" lIns="0" tIns="0" rIns="0" bIns="0" rtlCol="0" anchor="t"/>
          <a:lstStyle/>
          <a:p>
            <a:pPr marL="0" indent="0" algn="l">
              <a:lnSpc>
                <a:spcPts val="2500"/>
              </a:lnSpc>
              <a:buNone/>
            </a:pPr>
            <a:r>
              <a:rPr lang="en-US" sz="2000" dirty="0">
                <a:solidFill>
                  <a:srgbClr val="F2E782"/>
                </a:solidFill>
                <a:latin typeface="Prata" pitchFamily="34" charset="0"/>
              </a:rPr>
              <a:t>Data Cleaning</a:t>
            </a:r>
          </a:p>
        </p:txBody>
      </p:sp>
      <p:sp>
        <p:nvSpPr>
          <p:cNvPr id="9" name="Text 5"/>
          <p:cNvSpPr/>
          <p:nvPr/>
        </p:nvSpPr>
        <p:spPr>
          <a:xfrm>
            <a:off x="9878735" y="3402687"/>
            <a:ext cx="3887153" cy="978694"/>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Rem</a:t>
            </a:r>
            <a:r>
              <a:rPr lang="en-US" sz="1600" dirty="0">
                <a:solidFill>
                  <a:srgbClr val="CFCBBF"/>
                </a:solidFill>
                <a:latin typeface="Raleway" pitchFamily="34" charset="0"/>
              </a:rPr>
              <a:t>ov</a:t>
            </a:r>
            <a:r>
              <a:rPr lang="en-US" sz="1600" dirty="0">
                <a:solidFill>
                  <a:srgbClr val="CFCBBF"/>
                </a:solidFill>
                <a:latin typeface="Raleway" pitchFamily="34" charset="0"/>
                <a:ea typeface="Raleway" pitchFamily="34" charset="-122"/>
                <a:cs typeface="Raleway" pitchFamily="34" charset="-120"/>
              </a:rPr>
              <a:t>ed duplicates, invalid records, and handled missing values; standardized column names.</a:t>
            </a:r>
            <a:endParaRPr lang="en-US" sz="1600" dirty="0"/>
          </a:p>
        </p:txBody>
      </p:sp>
      <p:pic>
        <p:nvPicPr>
          <p:cNvPr id="10" name="Image 2" descr="preencoded.png"/>
          <p:cNvPicPr>
            <a:picLocks noChangeAspect="1"/>
          </p:cNvPicPr>
          <p:nvPr/>
        </p:nvPicPr>
        <p:blipFill>
          <a:blip r:embed="rId6"/>
          <a:stretch>
            <a:fillRect/>
          </a:stretch>
        </p:blipFill>
        <p:spPr>
          <a:xfrm>
            <a:off x="5057418" y="2976205"/>
            <a:ext cx="4515445" cy="4515445"/>
          </a:xfrm>
          <a:prstGeom prst="rect">
            <a:avLst/>
          </a:prstGeom>
        </p:spPr>
      </p:pic>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01940" y="3684508"/>
            <a:ext cx="305157" cy="305157"/>
          </a:xfrm>
          <a:prstGeom prst="rect">
            <a:avLst/>
          </a:prstGeom>
        </p:spPr>
      </p:pic>
      <p:sp>
        <p:nvSpPr>
          <p:cNvPr id="12" name="Text 6"/>
          <p:cNvSpPr/>
          <p:nvPr/>
        </p:nvSpPr>
        <p:spPr>
          <a:xfrm>
            <a:off x="9980771" y="4687253"/>
            <a:ext cx="2570321" cy="318611"/>
          </a:xfrm>
          <a:prstGeom prst="rect">
            <a:avLst/>
          </a:prstGeom>
          <a:noFill/>
          <a:ln/>
        </p:spPr>
        <p:txBody>
          <a:bodyPr wrap="none" lIns="0" tIns="0" rIns="0" bIns="0" rtlCol="0" anchor="t"/>
          <a:lstStyle/>
          <a:p>
            <a:pPr marL="0" indent="0" algn="l">
              <a:lnSpc>
                <a:spcPts val="2500"/>
              </a:lnSpc>
              <a:buNone/>
            </a:pPr>
            <a:r>
              <a:rPr lang="en-US" sz="2000" dirty="0">
                <a:solidFill>
                  <a:srgbClr val="F2E782"/>
                </a:solidFill>
                <a:latin typeface="Prata" pitchFamily="34" charset="0"/>
              </a:rPr>
              <a:t>Data Transformation</a:t>
            </a:r>
          </a:p>
        </p:txBody>
      </p:sp>
      <p:sp>
        <p:nvSpPr>
          <p:cNvPr id="13" name="Text 7"/>
          <p:cNvSpPr/>
          <p:nvPr/>
        </p:nvSpPr>
        <p:spPr>
          <a:xfrm>
            <a:off x="9980771" y="5128141"/>
            <a:ext cx="3785116" cy="652462"/>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Appended fact tables, merged product dimension tables for a unified view.</a:t>
            </a:r>
            <a:endParaRPr lang="en-US" sz="1600" dirty="0"/>
          </a:p>
        </p:txBody>
      </p:sp>
      <p:pic>
        <p:nvPicPr>
          <p:cNvPr id="14" name="Image 4" descr="preencoded.png"/>
          <p:cNvPicPr>
            <a:picLocks noChangeAspect="1"/>
          </p:cNvPicPr>
          <p:nvPr/>
        </p:nvPicPr>
        <p:blipFill>
          <a:blip r:embed="rId7"/>
          <a:stretch>
            <a:fillRect/>
          </a:stretch>
        </p:blipFill>
        <p:spPr>
          <a:xfrm>
            <a:off x="5057418" y="2976205"/>
            <a:ext cx="4515445" cy="4515445"/>
          </a:xfrm>
          <a:prstGeom prst="rect">
            <a:avLst/>
          </a:prstGeom>
        </p:spPr>
      </p:pic>
      <p:pic>
        <p:nvPicPr>
          <p:cNvPr id="15"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19304" y="5352931"/>
            <a:ext cx="305157" cy="305157"/>
          </a:xfrm>
          <a:prstGeom prst="rect">
            <a:avLst/>
          </a:prstGeom>
        </p:spPr>
      </p:pic>
      <p:sp>
        <p:nvSpPr>
          <p:cNvPr id="16" name="Text 8"/>
          <p:cNvSpPr/>
          <p:nvPr/>
        </p:nvSpPr>
        <p:spPr>
          <a:xfrm>
            <a:off x="9878735" y="6086475"/>
            <a:ext cx="2549604" cy="318611"/>
          </a:xfrm>
          <a:prstGeom prst="rect">
            <a:avLst/>
          </a:prstGeom>
          <a:noFill/>
          <a:ln/>
        </p:spPr>
        <p:txBody>
          <a:bodyPr wrap="none" lIns="0" tIns="0" rIns="0" bIns="0" rtlCol="0" anchor="t"/>
          <a:lstStyle/>
          <a:p>
            <a:pPr>
              <a:lnSpc>
                <a:spcPts val="2500"/>
              </a:lnSpc>
            </a:pPr>
            <a:r>
              <a:rPr lang="en-US" sz="2000" dirty="0">
                <a:solidFill>
                  <a:srgbClr val="F2E782"/>
                </a:solidFill>
                <a:latin typeface="Prata" pitchFamily="34" charset="0"/>
              </a:rPr>
              <a:t>Feature Engineering</a:t>
            </a:r>
          </a:p>
        </p:txBody>
      </p:sp>
      <p:pic>
        <p:nvPicPr>
          <p:cNvPr id="18" name="Image 6" descr="preencoded.png"/>
          <p:cNvPicPr>
            <a:picLocks noChangeAspect="1"/>
          </p:cNvPicPr>
          <p:nvPr/>
        </p:nvPicPr>
        <p:blipFill>
          <a:blip r:embed="rId10"/>
          <a:stretch>
            <a:fillRect/>
          </a:stretch>
        </p:blipFill>
        <p:spPr>
          <a:xfrm>
            <a:off x="5057418" y="2976205"/>
            <a:ext cx="4515445" cy="4515445"/>
          </a:xfrm>
          <a:prstGeom prst="rect">
            <a:avLst/>
          </a:prstGeom>
        </p:spPr>
      </p:pic>
      <p:pic>
        <p:nvPicPr>
          <p:cNvPr id="19" name="Image 7"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85090" y="6645831"/>
            <a:ext cx="305157" cy="305157"/>
          </a:xfrm>
          <a:prstGeom prst="rect">
            <a:avLst/>
          </a:prstGeom>
        </p:spPr>
      </p:pic>
      <p:sp>
        <p:nvSpPr>
          <p:cNvPr id="20" name="Text 10"/>
          <p:cNvSpPr/>
          <p:nvPr/>
        </p:nvSpPr>
        <p:spPr>
          <a:xfrm>
            <a:off x="2201942" y="5736669"/>
            <a:ext cx="2549604" cy="318611"/>
          </a:xfrm>
          <a:prstGeom prst="rect">
            <a:avLst/>
          </a:prstGeom>
          <a:noFill/>
          <a:ln/>
        </p:spPr>
        <p:txBody>
          <a:bodyPr wrap="none" lIns="0" tIns="0" rIns="0" bIns="0" rtlCol="0" anchor="t"/>
          <a:lstStyle/>
          <a:p>
            <a:pPr algn="r">
              <a:lnSpc>
                <a:spcPts val="2500"/>
              </a:lnSpc>
            </a:pPr>
            <a:r>
              <a:rPr lang="en-US" sz="2000" dirty="0">
                <a:solidFill>
                  <a:srgbClr val="F2E782"/>
                </a:solidFill>
                <a:latin typeface="Prata" pitchFamily="34" charset="0"/>
              </a:rPr>
              <a:t>Data Modeling</a:t>
            </a:r>
          </a:p>
        </p:txBody>
      </p:sp>
      <p:sp>
        <p:nvSpPr>
          <p:cNvPr id="21" name="Text 11"/>
          <p:cNvSpPr/>
          <p:nvPr/>
        </p:nvSpPr>
        <p:spPr>
          <a:xfrm>
            <a:off x="864513" y="6177558"/>
            <a:ext cx="3887033" cy="978694"/>
          </a:xfrm>
          <a:prstGeom prst="rect">
            <a:avLst/>
          </a:prstGeom>
          <a:noFill/>
          <a:ln/>
        </p:spPr>
        <p:txBody>
          <a:bodyPr wrap="square" lIns="0" tIns="0" rIns="0" bIns="0" rtlCol="0" anchor="t"/>
          <a:lstStyle/>
          <a:p>
            <a:pPr marL="0" indent="0" algn="r">
              <a:lnSpc>
                <a:spcPts val="2550"/>
              </a:lnSpc>
              <a:buNone/>
            </a:pPr>
            <a:r>
              <a:rPr lang="en-US" sz="1600" dirty="0">
                <a:solidFill>
                  <a:srgbClr val="CFCBBF"/>
                </a:solidFill>
                <a:latin typeface="Raleway" pitchFamily="34" charset="0"/>
                <a:ea typeface="Raleway" pitchFamily="34" charset="-122"/>
                <a:cs typeface="Raleway" pitchFamily="34" charset="-120"/>
              </a:rPr>
              <a:t>Built a star schema model with established relationships for comprehensive analysis.</a:t>
            </a:r>
            <a:endParaRPr lang="en-US" sz="1600" dirty="0"/>
          </a:p>
        </p:txBody>
      </p:sp>
      <p:pic>
        <p:nvPicPr>
          <p:cNvPr id="22" name="Image 8" descr="preencoded.png"/>
          <p:cNvPicPr>
            <a:picLocks noChangeAspect="1"/>
          </p:cNvPicPr>
          <p:nvPr/>
        </p:nvPicPr>
        <p:blipFill>
          <a:blip r:embed="rId13"/>
          <a:stretch>
            <a:fillRect/>
          </a:stretch>
        </p:blipFill>
        <p:spPr>
          <a:xfrm>
            <a:off x="5057418" y="2976205"/>
            <a:ext cx="4515445" cy="4515445"/>
          </a:xfrm>
          <a:prstGeom prst="rect">
            <a:avLst/>
          </a:prstGeom>
        </p:spPr>
      </p:pic>
      <p:pic>
        <p:nvPicPr>
          <p:cNvPr id="23" name="Image 9"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43218" y="5776555"/>
            <a:ext cx="305157" cy="305157"/>
          </a:xfrm>
          <a:prstGeom prst="rect">
            <a:avLst/>
          </a:prstGeom>
        </p:spPr>
      </p:pic>
      <p:sp>
        <p:nvSpPr>
          <p:cNvPr id="24" name="Text 1">
            <a:extLst>
              <a:ext uri="{FF2B5EF4-FFF2-40B4-BE49-F238E27FC236}">
                <a16:creationId xmlns:a16="http://schemas.microsoft.com/office/drawing/2014/main" id="{864A75AC-8806-9D36-C0D0-14301463E178}"/>
              </a:ext>
            </a:extLst>
          </p:cNvPr>
          <p:cNvSpPr/>
          <p:nvPr/>
        </p:nvSpPr>
        <p:spPr>
          <a:xfrm>
            <a:off x="863679" y="1446371"/>
            <a:ext cx="13042821" cy="730329"/>
          </a:xfrm>
          <a:prstGeom prst="rect">
            <a:avLst/>
          </a:prstGeom>
          <a:noFill/>
          <a:ln/>
        </p:spPr>
        <p:txBody>
          <a:bodyPr wrap="square" lIns="0" tIns="0" rIns="0" bIns="0" rtlCol="0" anchor="t"/>
          <a:lstStyle/>
          <a:p>
            <a:r>
              <a:rPr lang="en-US" sz="1750" dirty="0">
                <a:solidFill>
                  <a:srgbClr val="CFCBBF"/>
                </a:solidFill>
                <a:latin typeface="Raleway" pitchFamily="34" charset="0"/>
              </a:rPr>
              <a:t>This project follows a structured and systematic approach to ensure data accuracy, consistency, and reliability.</a:t>
            </a:r>
            <a:br>
              <a:rPr lang="en-US" sz="1750" dirty="0">
                <a:solidFill>
                  <a:srgbClr val="CFCBBF"/>
                </a:solidFill>
                <a:latin typeface="Raleway" pitchFamily="34" charset="0"/>
              </a:rPr>
            </a:br>
            <a:r>
              <a:rPr lang="en-US" sz="1750" dirty="0">
                <a:solidFill>
                  <a:srgbClr val="CFCBBF"/>
                </a:solidFill>
                <a:latin typeface="Raleway" pitchFamily="34" charset="0"/>
              </a:rPr>
              <a:t>Each step is carefully designed to transform raw data into meaningful insights for effective decision-making.</a:t>
            </a:r>
          </a:p>
        </p:txBody>
      </p:sp>
      <p:grpSp>
        <p:nvGrpSpPr>
          <p:cNvPr id="26" name="Group 25">
            <a:extLst>
              <a:ext uri="{FF2B5EF4-FFF2-40B4-BE49-F238E27FC236}">
                <a16:creationId xmlns:a16="http://schemas.microsoft.com/office/drawing/2014/main" id="{DBB28004-1103-E09E-DFE1-05A6F9312834}"/>
              </a:ext>
            </a:extLst>
          </p:cNvPr>
          <p:cNvGrpSpPr/>
          <p:nvPr/>
        </p:nvGrpSpPr>
        <p:grpSpPr>
          <a:xfrm>
            <a:off x="9878735" y="6527363"/>
            <a:ext cx="4618315" cy="1599601"/>
            <a:chOff x="9878735" y="6527363"/>
            <a:chExt cx="4618315" cy="1599601"/>
          </a:xfrm>
        </p:grpSpPr>
        <p:sp>
          <p:nvSpPr>
            <p:cNvPr id="17" name="Text 9"/>
            <p:cNvSpPr/>
            <p:nvPr/>
          </p:nvSpPr>
          <p:spPr>
            <a:xfrm>
              <a:off x="9878735" y="6527363"/>
              <a:ext cx="3887153" cy="978694"/>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Extracted date components (Year, Quarter, Month) and created key measures (Sales, Cost, Profit, Margin).</a:t>
              </a:r>
              <a:endParaRPr lang="en-US" sz="1600" dirty="0"/>
            </a:p>
          </p:txBody>
        </p:sp>
        <p:sp>
          <p:nvSpPr>
            <p:cNvPr id="25" name="Rectangle 24">
              <a:extLst>
                <a:ext uri="{FF2B5EF4-FFF2-40B4-BE49-F238E27FC236}">
                  <a16:creationId xmlns:a16="http://schemas.microsoft.com/office/drawing/2014/main" id="{6BAEC486-3E65-40DD-19F1-B6A7FA95E503}"/>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C883C-1544-E19A-3D0C-56CC9F0008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4D5D415-04DC-C4A1-9D7B-4066AE7C881A}"/>
              </a:ext>
            </a:extLst>
          </p:cNvPr>
          <p:cNvSpPr/>
          <p:nvPr/>
        </p:nvSpPr>
        <p:spPr>
          <a:xfrm>
            <a:off x="864513" y="723543"/>
            <a:ext cx="12901374" cy="1274683"/>
          </a:xfrm>
          <a:prstGeom prst="rect">
            <a:avLst/>
          </a:prstGeom>
          <a:noFill/>
          <a:ln/>
        </p:spPr>
        <p:txBody>
          <a:bodyPr wrap="square" lIns="0" tIns="0" rIns="0" bIns="0" rtlCol="0" anchor="t"/>
          <a:lstStyle/>
          <a:p>
            <a:pPr>
              <a:lnSpc>
                <a:spcPts val="5000"/>
              </a:lnSpc>
            </a:pPr>
            <a:r>
              <a:rPr lang="en-US" sz="400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Analysis: Key Business Performance Evaluation</a:t>
            </a:r>
          </a:p>
        </p:txBody>
      </p:sp>
      <p:sp>
        <p:nvSpPr>
          <p:cNvPr id="3" name="Text 1">
            <a:extLst>
              <a:ext uri="{FF2B5EF4-FFF2-40B4-BE49-F238E27FC236}">
                <a16:creationId xmlns:a16="http://schemas.microsoft.com/office/drawing/2014/main" id="{CD4C7E51-1266-1063-562B-3331F09FD78A}"/>
              </a:ext>
            </a:extLst>
          </p:cNvPr>
          <p:cNvSpPr/>
          <p:nvPr/>
        </p:nvSpPr>
        <p:spPr>
          <a:xfrm>
            <a:off x="581024" y="2406134"/>
            <a:ext cx="12184737" cy="326231"/>
          </a:xfrm>
          <a:prstGeom prst="rect">
            <a:avLst/>
          </a:prstGeom>
          <a:noFill/>
          <a:ln/>
        </p:spPr>
        <p:txBody>
          <a:bodyPr wrap="none" lIns="0" tIns="0" rIns="0" bIns="0" rtlCol="0" anchor="t"/>
          <a:lstStyle/>
          <a:p>
            <a:pPr algn="ctr">
              <a:lnSpc>
                <a:spcPts val="2550"/>
              </a:lnSpc>
            </a:pPr>
            <a:r>
              <a:rPr lang="en-US" sz="2000" b="1" dirty="0">
                <a:solidFill>
                  <a:srgbClr val="CFCBBF"/>
                </a:solidFill>
                <a:latin typeface="Raleway" pitchFamily="34" charset="0"/>
              </a:rPr>
              <a:t>Year-Wise Sales</a:t>
            </a:r>
            <a:endParaRPr lang="en-US" sz="2000" b="1" dirty="0"/>
          </a:p>
          <a:p>
            <a:pPr marL="0" indent="0" algn="ctr">
              <a:lnSpc>
                <a:spcPts val="2550"/>
              </a:lnSpc>
              <a:buNone/>
            </a:pPr>
            <a:endParaRPr lang="en-US" sz="2000" dirty="0"/>
          </a:p>
        </p:txBody>
      </p:sp>
      <p:sp>
        <p:nvSpPr>
          <p:cNvPr id="24" name="Text 1">
            <a:extLst>
              <a:ext uri="{FF2B5EF4-FFF2-40B4-BE49-F238E27FC236}">
                <a16:creationId xmlns:a16="http://schemas.microsoft.com/office/drawing/2014/main" id="{60E739B1-1437-D37E-BA54-F1B4078376BD}"/>
              </a:ext>
            </a:extLst>
          </p:cNvPr>
          <p:cNvSpPr/>
          <p:nvPr/>
        </p:nvSpPr>
        <p:spPr>
          <a:xfrm>
            <a:off x="863679" y="1511617"/>
            <a:ext cx="13042821" cy="730329"/>
          </a:xfrm>
          <a:prstGeom prst="rect">
            <a:avLst/>
          </a:prstGeom>
          <a:noFill/>
          <a:ln/>
        </p:spPr>
        <p:txBody>
          <a:bodyPr wrap="square" lIns="0" tIns="0" rIns="0" bIns="0" rtlCol="0" anchor="t"/>
          <a:lstStyle/>
          <a:p>
            <a:r>
              <a:rPr lang="en-US" sz="1600" dirty="0">
                <a:solidFill>
                  <a:srgbClr val="CFCBBF"/>
                </a:solidFill>
                <a:latin typeface="Raleway" pitchFamily="34" charset="0"/>
              </a:rPr>
              <a:t>This analysis examines sales trends, top customers, best-performing products, and regional sales distribution.</a:t>
            </a:r>
            <a:br>
              <a:rPr lang="en-US" sz="1600" dirty="0">
                <a:solidFill>
                  <a:srgbClr val="CFCBBF"/>
                </a:solidFill>
                <a:latin typeface="Raleway" pitchFamily="34" charset="0"/>
              </a:rPr>
            </a:br>
            <a:r>
              <a:rPr lang="en-US" sz="1600" dirty="0">
                <a:solidFill>
                  <a:srgbClr val="CFCBBF"/>
                </a:solidFill>
                <a:latin typeface="Raleway" pitchFamily="34" charset="0"/>
              </a:rPr>
              <a:t>The goal is to uncover actionable insights that help improve business performance and profitability..</a:t>
            </a:r>
          </a:p>
        </p:txBody>
      </p:sp>
      <p:sp>
        <p:nvSpPr>
          <p:cNvPr id="25" name="AutoShape 2" descr="Generated image">
            <a:extLst>
              <a:ext uri="{FF2B5EF4-FFF2-40B4-BE49-F238E27FC236}">
                <a16:creationId xmlns:a16="http://schemas.microsoft.com/office/drawing/2014/main" id="{F17AE706-2539-C0D9-F1A6-72483D25C0B6}"/>
              </a:ext>
            </a:extLst>
          </p:cNvPr>
          <p:cNvSpPr>
            <a:spLocks noChangeAspect="1" noChangeArrowheads="1"/>
          </p:cNvSpPr>
          <p:nvPr/>
        </p:nvSpPr>
        <p:spPr bwMode="auto">
          <a:xfrm>
            <a:off x="3857625" y="657225"/>
            <a:ext cx="3609975" cy="36099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9" name="Picture 28">
            <a:extLst>
              <a:ext uri="{FF2B5EF4-FFF2-40B4-BE49-F238E27FC236}">
                <a16:creationId xmlns:a16="http://schemas.microsoft.com/office/drawing/2014/main" id="{6B30CC48-AB58-69DB-9E1B-D18FFE1966C0}"/>
              </a:ext>
            </a:extLst>
          </p:cNvPr>
          <p:cNvPicPr>
            <a:picLocks noChangeAspect="1"/>
          </p:cNvPicPr>
          <p:nvPr/>
        </p:nvPicPr>
        <p:blipFill>
          <a:blip r:embed="rId3"/>
          <a:stretch>
            <a:fillRect/>
          </a:stretch>
        </p:blipFill>
        <p:spPr>
          <a:xfrm>
            <a:off x="723899" y="3140273"/>
            <a:ext cx="6086475" cy="4485916"/>
          </a:xfrm>
          <a:prstGeom prst="rect">
            <a:avLst/>
          </a:prstGeom>
        </p:spPr>
      </p:pic>
      <p:grpSp>
        <p:nvGrpSpPr>
          <p:cNvPr id="35" name="Group 34">
            <a:extLst>
              <a:ext uri="{FF2B5EF4-FFF2-40B4-BE49-F238E27FC236}">
                <a16:creationId xmlns:a16="http://schemas.microsoft.com/office/drawing/2014/main" id="{09DF8CB4-4A2F-644C-2DE4-66DE1A69D662}"/>
              </a:ext>
            </a:extLst>
          </p:cNvPr>
          <p:cNvGrpSpPr/>
          <p:nvPr/>
        </p:nvGrpSpPr>
        <p:grpSpPr>
          <a:xfrm>
            <a:off x="7467601" y="3242726"/>
            <a:ext cx="7029449" cy="4884238"/>
            <a:chOff x="7467601" y="3242726"/>
            <a:chExt cx="7029449" cy="4884238"/>
          </a:xfrm>
        </p:grpSpPr>
        <p:sp>
          <p:nvSpPr>
            <p:cNvPr id="30" name="Text 5">
              <a:extLst>
                <a:ext uri="{FF2B5EF4-FFF2-40B4-BE49-F238E27FC236}">
                  <a16:creationId xmlns:a16="http://schemas.microsoft.com/office/drawing/2014/main" id="{E38A38F3-3B7C-80BC-4131-372D570EAEA0}"/>
                </a:ext>
              </a:extLst>
            </p:cNvPr>
            <p:cNvSpPr/>
            <p:nvPr/>
          </p:nvSpPr>
          <p:spPr>
            <a:xfrm>
              <a:off x="7467601" y="3242726"/>
              <a:ext cx="6298288" cy="2565202"/>
            </a:xfrm>
            <a:prstGeom prst="rect">
              <a:avLst/>
            </a:prstGeom>
            <a:noFill/>
            <a:ln/>
          </p:spPr>
          <p:txBody>
            <a:bodyPr wrap="square" lIns="0" tIns="0" rIns="0" bIns="0" rtlCol="0" anchor="t"/>
            <a:lstStyle/>
            <a:p>
              <a:pPr>
                <a:lnSpc>
                  <a:spcPts val="2550"/>
                </a:lnSpc>
              </a:pPr>
              <a:r>
                <a:rPr lang="en-US" sz="2400" b="1" dirty="0">
                  <a:solidFill>
                    <a:srgbClr val="CFCBBF"/>
                  </a:solidFill>
                  <a:latin typeface="Raleway" pitchFamily="34" charset="0"/>
                </a:rPr>
                <a:t>Insight</a:t>
              </a:r>
            </a:p>
            <a:p>
              <a:pPr>
                <a:lnSpc>
                  <a:spcPts val="2550"/>
                </a:lnSpc>
              </a:pPr>
              <a:endParaRPr lang="en-US" sz="2000" b="1"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2000" dirty="0">
                  <a:solidFill>
                    <a:srgbClr val="CFCBBF"/>
                  </a:solidFill>
                  <a:latin typeface="Raleway" pitchFamily="34" charset="0"/>
                </a:rPr>
                <a:t>Sales showed steady growth from 2010 to 2013</a:t>
              </a:r>
            </a:p>
            <a:p>
              <a:pPr marL="285750" indent="-285750">
                <a:lnSpc>
                  <a:spcPts val="2550"/>
                </a:lnSpc>
                <a:buFont typeface="Arial" panose="020B0604020202020204" pitchFamily="34" charset="0"/>
                <a:buChar char="•"/>
              </a:pPr>
              <a:endParaRPr lang="en-US" sz="2000"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2000" dirty="0">
                  <a:solidFill>
                    <a:srgbClr val="CFCBBF"/>
                  </a:solidFill>
                  <a:latin typeface="Raleway" pitchFamily="34" charset="0"/>
                </a:rPr>
                <a:t>2013 was the highest performing year</a:t>
              </a:r>
            </a:p>
            <a:p>
              <a:pPr marL="285750" indent="-285750">
                <a:lnSpc>
                  <a:spcPts val="2550"/>
                </a:lnSpc>
                <a:buFont typeface="Arial" panose="020B0604020202020204" pitchFamily="34" charset="0"/>
                <a:buChar char="•"/>
              </a:pPr>
              <a:endParaRPr lang="en-US" sz="2000"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2000" dirty="0">
                  <a:solidFill>
                    <a:srgbClr val="CFCBBF"/>
                  </a:solidFill>
                  <a:latin typeface="Raleway" pitchFamily="34" charset="0"/>
                </a:rPr>
                <a:t>Slight dip observed in 2014 due to limited data availability</a:t>
              </a:r>
            </a:p>
          </p:txBody>
        </p:sp>
        <p:sp>
          <p:nvSpPr>
            <p:cNvPr id="34" name="Rectangle 33">
              <a:extLst>
                <a:ext uri="{FF2B5EF4-FFF2-40B4-BE49-F238E27FC236}">
                  <a16:creationId xmlns:a16="http://schemas.microsoft.com/office/drawing/2014/main" id="{D5B773BC-C0CF-148A-98B4-10D9CF2FC4CF}"/>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67526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AEB3B-1711-3AE7-695A-24BA02C26AA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D129214-F8DF-3B9D-DA40-54A85979E211}"/>
              </a:ext>
            </a:extLst>
          </p:cNvPr>
          <p:cNvSpPr/>
          <p:nvPr/>
        </p:nvSpPr>
        <p:spPr>
          <a:xfrm>
            <a:off x="371474" y="793522"/>
            <a:ext cx="12184737" cy="638175"/>
          </a:xfrm>
          <a:prstGeom prst="rect">
            <a:avLst/>
          </a:prstGeom>
          <a:noFill/>
          <a:ln/>
        </p:spPr>
        <p:txBody>
          <a:bodyPr wrap="none" lIns="0" tIns="0" rIns="0" bIns="0" rtlCol="0" anchor="t"/>
          <a:lstStyle/>
          <a:p>
            <a:pPr algn="ctr">
              <a:lnSpc>
                <a:spcPts val="3300"/>
              </a:lnSpc>
            </a:pPr>
            <a:r>
              <a:rPr lang="en-US" sz="2800" b="1" dirty="0">
                <a:solidFill>
                  <a:srgbClr val="CFCBBF"/>
                </a:solidFill>
                <a:latin typeface="Prata" pitchFamily="34" charset="0"/>
                <a:ea typeface="Prata" pitchFamily="34" charset="-122"/>
                <a:cs typeface="Prata" pitchFamily="34" charset="-120"/>
              </a:rPr>
              <a:t>Top 5 Customers by Profit</a:t>
            </a:r>
            <a:endParaRPr lang="en-US" sz="2800" b="1" dirty="0"/>
          </a:p>
        </p:txBody>
      </p:sp>
      <p:sp>
        <p:nvSpPr>
          <p:cNvPr id="25" name="AutoShape 2" descr="Generated image">
            <a:extLst>
              <a:ext uri="{FF2B5EF4-FFF2-40B4-BE49-F238E27FC236}">
                <a16:creationId xmlns:a16="http://schemas.microsoft.com/office/drawing/2014/main" id="{DAEACEC7-D6DE-BC32-B6D7-25C386A95F91}"/>
              </a:ext>
            </a:extLst>
          </p:cNvPr>
          <p:cNvSpPr>
            <a:spLocks noChangeAspect="1" noChangeArrowheads="1"/>
          </p:cNvSpPr>
          <p:nvPr/>
        </p:nvSpPr>
        <p:spPr bwMode="auto">
          <a:xfrm>
            <a:off x="3943350" y="828675"/>
            <a:ext cx="3609975" cy="36099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4A5483A6-B55B-9D7A-C35F-F5F7BB610142}"/>
              </a:ext>
            </a:extLst>
          </p:cNvPr>
          <p:cNvPicPr>
            <a:picLocks noChangeAspect="1"/>
          </p:cNvPicPr>
          <p:nvPr/>
        </p:nvPicPr>
        <p:blipFill>
          <a:blip r:embed="rId3"/>
          <a:stretch>
            <a:fillRect/>
          </a:stretch>
        </p:blipFill>
        <p:spPr>
          <a:xfrm>
            <a:off x="832306" y="2034718"/>
            <a:ext cx="6050637" cy="4080331"/>
          </a:xfrm>
          <a:prstGeom prst="rect">
            <a:avLst/>
          </a:prstGeom>
        </p:spPr>
      </p:pic>
      <p:grpSp>
        <p:nvGrpSpPr>
          <p:cNvPr id="9" name="Group 8">
            <a:extLst>
              <a:ext uri="{FF2B5EF4-FFF2-40B4-BE49-F238E27FC236}">
                <a16:creationId xmlns:a16="http://schemas.microsoft.com/office/drawing/2014/main" id="{0A435515-646D-B9B5-4AB9-453542A0D28E}"/>
              </a:ext>
            </a:extLst>
          </p:cNvPr>
          <p:cNvGrpSpPr/>
          <p:nvPr/>
        </p:nvGrpSpPr>
        <p:grpSpPr>
          <a:xfrm>
            <a:off x="7499806" y="2034717"/>
            <a:ext cx="6997244" cy="6092247"/>
            <a:chOff x="7499806" y="2034717"/>
            <a:chExt cx="6997244" cy="6092247"/>
          </a:xfrm>
        </p:grpSpPr>
        <p:sp>
          <p:nvSpPr>
            <p:cNvPr id="6" name="Text 5">
              <a:extLst>
                <a:ext uri="{FF2B5EF4-FFF2-40B4-BE49-F238E27FC236}">
                  <a16:creationId xmlns:a16="http://schemas.microsoft.com/office/drawing/2014/main" id="{E4D4E7A9-53DB-32F2-4928-2F4636B872FE}"/>
                </a:ext>
              </a:extLst>
            </p:cNvPr>
            <p:cNvSpPr/>
            <p:nvPr/>
          </p:nvSpPr>
          <p:spPr>
            <a:xfrm>
              <a:off x="7499806" y="2034717"/>
              <a:ext cx="6298288" cy="4442283"/>
            </a:xfrm>
            <a:prstGeom prst="rect">
              <a:avLst/>
            </a:prstGeom>
            <a:noFill/>
            <a:ln/>
          </p:spPr>
          <p:txBody>
            <a:bodyPr wrap="square" lIns="0" tIns="0" rIns="0" bIns="0" rtlCol="0" anchor="t"/>
            <a:lstStyle/>
            <a:p>
              <a:pPr>
                <a:lnSpc>
                  <a:spcPts val="2550"/>
                </a:lnSpc>
              </a:pPr>
              <a:r>
                <a:rPr lang="en-US" sz="2400" b="1" dirty="0">
                  <a:solidFill>
                    <a:srgbClr val="CFCBBF"/>
                  </a:solidFill>
                  <a:latin typeface="Raleway" pitchFamily="34" charset="0"/>
                </a:rPr>
                <a:t>Insight</a:t>
              </a:r>
            </a:p>
            <a:p>
              <a:pPr>
                <a:lnSpc>
                  <a:spcPts val="2550"/>
                </a:lnSpc>
              </a:pPr>
              <a:endParaRPr lang="en-US" sz="2000" b="1" dirty="0">
                <a:solidFill>
                  <a:srgbClr val="CFCBBF"/>
                </a:solidFill>
                <a:latin typeface="Raleway" pitchFamily="34" charset="0"/>
              </a:endParaRPr>
            </a:p>
            <a:p>
              <a:pPr marL="285750" indent="-285750">
                <a:lnSpc>
                  <a:spcPts val="2550"/>
                </a:lnSpc>
                <a:buFont typeface="Arial" panose="020B0604020202020204" pitchFamily="34" charset="0"/>
                <a:buChar char="•"/>
              </a:pPr>
              <a:r>
                <a:rPr lang="en-US" dirty="0">
                  <a:solidFill>
                    <a:srgbClr val="CFCBBF"/>
                  </a:solidFill>
                  <a:latin typeface="Raleway" pitchFamily="34" charset="0"/>
                </a:rPr>
                <a:t>Jordan Turner is the highest profit-contributing customer, clearly leading the group.</a:t>
              </a:r>
            </a:p>
            <a:p>
              <a:pPr marL="285750" indent="-285750">
                <a:lnSpc>
                  <a:spcPts val="2550"/>
                </a:lnSpc>
                <a:buFont typeface="Arial" panose="020B0604020202020204" pitchFamily="34" charset="0"/>
                <a:buChar char="•"/>
              </a:pPr>
              <a:endParaRPr lang="en-US" dirty="0">
                <a:solidFill>
                  <a:srgbClr val="CFCBBF"/>
                </a:solidFill>
                <a:latin typeface="Raleway" pitchFamily="34" charset="0"/>
              </a:endParaRPr>
            </a:p>
            <a:p>
              <a:pPr marL="285750" indent="-285750">
                <a:lnSpc>
                  <a:spcPts val="2550"/>
                </a:lnSpc>
                <a:buFont typeface="Arial" panose="020B0604020202020204" pitchFamily="34" charset="0"/>
                <a:buChar char="•"/>
              </a:pPr>
              <a:r>
                <a:rPr lang="en-US" dirty="0">
                  <a:solidFill>
                    <a:srgbClr val="CFCBBF"/>
                  </a:solidFill>
                  <a:latin typeface="Raleway" pitchFamily="34" charset="0"/>
                </a:rPr>
                <a:t> A small set of customers contributes a disproportionately high share of profit, with one clear top contributor. </a:t>
              </a:r>
            </a:p>
            <a:p>
              <a:pPr marL="285750" indent="-285750">
                <a:lnSpc>
                  <a:spcPts val="2550"/>
                </a:lnSpc>
                <a:buFont typeface="Arial" panose="020B0604020202020204" pitchFamily="34" charset="0"/>
                <a:buChar char="•"/>
              </a:pPr>
              <a:endParaRPr lang="en-US" dirty="0">
                <a:solidFill>
                  <a:srgbClr val="CFCBBF"/>
                </a:solidFill>
                <a:latin typeface="Raleway" pitchFamily="34" charset="0"/>
              </a:endParaRPr>
            </a:p>
            <a:p>
              <a:pPr marL="285750" indent="-285750">
                <a:lnSpc>
                  <a:spcPts val="2550"/>
                </a:lnSpc>
                <a:buFont typeface="Arial" panose="020B0604020202020204" pitchFamily="34" charset="0"/>
                <a:buChar char="•"/>
              </a:pPr>
              <a:r>
                <a:rPr lang="en-US" dirty="0">
                  <a:solidFill>
                    <a:srgbClr val="CFCBBF"/>
                  </a:solidFill>
                  <a:latin typeface="Raleway" pitchFamily="34" charset="0"/>
                </a:rPr>
                <a:t>This indicates customer concentration risk and an opportunity to design retention and loyalty strategies for high-value customers.</a:t>
              </a:r>
            </a:p>
            <a:p>
              <a:pPr marL="285750" indent="-285750">
                <a:lnSpc>
                  <a:spcPts val="2550"/>
                </a:lnSpc>
                <a:buFont typeface="Arial" panose="020B0604020202020204" pitchFamily="34" charset="0"/>
                <a:buChar char="•"/>
              </a:pPr>
              <a:endParaRPr lang="en-US" sz="1600" dirty="0">
                <a:solidFill>
                  <a:srgbClr val="CFCBBF"/>
                </a:solidFill>
                <a:latin typeface="Raleway" pitchFamily="34" charset="0"/>
              </a:endParaRPr>
            </a:p>
          </p:txBody>
        </p:sp>
        <p:sp>
          <p:nvSpPr>
            <p:cNvPr id="8" name="Rectangle 7">
              <a:extLst>
                <a:ext uri="{FF2B5EF4-FFF2-40B4-BE49-F238E27FC236}">
                  <a16:creationId xmlns:a16="http://schemas.microsoft.com/office/drawing/2014/main" id="{89809673-87B4-E2CC-295B-2E35198C34BF}"/>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50516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97549-9101-56C9-856F-91C9E303954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B003A72-E8F2-EA4A-37CF-431C4E9B5040}"/>
              </a:ext>
            </a:extLst>
          </p:cNvPr>
          <p:cNvSpPr/>
          <p:nvPr/>
        </p:nvSpPr>
        <p:spPr>
          <a:xfrm>
            <a:off x="371474" y="793522"/>
            <a:ext cx="12184737" cy="638175"/>
          </a:xfrm>
          <a:prstGeom prst="rect">
            <a:avLst/>
          </a:prstGeom>
          <a:noFill/>
          <a:ln/>
        </p:spPr>
        <p:txBody>
          <a:bodyPr wrap="none" lIns="0" tIns="0" rIns="0" bIns="0" rtlCol="0" anchor="t"/>
          <a:lstStyle/>
          <a:p>
            <a:pPr algn="ctr">
              <a:lnSpc>
                <a:spcPts val="3300"/>
              </a:lnSpc>
            </a:pPr>
            <a:r>
              <a:rPr lang="en-US" sz="2800" b="1" dirty="0">
                <a:solidFill>
                  <a:srgbClr val="CFCBBF"/>
                </a:solidFill>
                <a:latin typeface="Prata" pitchFamily="34" charset="0"/>
                <a:ea typeface="Prata" pitchFamily="34" charset="-122"/>
                <a:cs typeface="Prata" pitchFamily="34" charset="-120"/>
              </a:rPr>
              <a:t>Top 5 Products by Sales</a:t>
            </a:r>
            <a:endParaRPr lang="en-US" sz="2800" b="1" dirty="0"/>
          </a:p>
        </p:txBody>
      </p:sp>
      <p:pic>
        <p:nvPicPr>
          <p:cNvPr id="4" name="Picture 3">
            <a:extLst>
              <a:ext uri="{FF2B5EF4-FFF2-40B4-BE49-F238E27FC236}">
                <a16:creationId xmlns:a16="http://schemas.microsoft.com/office/drawing/2014/main" id="{A5811D6A-2B3C-EEA6-022D-A30D3476C249}"/>
              </a:ext>
            </a:extLst>
          </p:cNvPr>
          <p:cNvPicPr>
            <a:picLocks noChangeAspect="1"/>
          </p:cNvPicPr>
          <p:nvPr/>
        </p:nvPicPr>
        <p:blipFill>
          <a:blip r:embed="rId3"/>
          <a:stretch>
            <a:fillRect/>
          </a:stretch>
        </p:blipFill>
        <p:spPr>
          <a:xfrm>
            <a:off x="832306" y="2074634"/>
            <a:ext cx="6050637" cy="4080331"/>
          </a:xfrm>
          <a:prstGeom prst="rect">
            <a:avLst/>
          </a:prstGeom>
        </p:spPr>
      </p:pic>
      <p:grpSp>
        <p:nvGrpSpPr>
          <p:cNvPr id="9" name="Group 8">
            <a:extLst>
              <a:ext uri="{FF2B5EF4-FFF2-40B4-BE49-F238E27FC236}">
                <a16:creationId xmlns:a16="http://schemas.microsoft.com/office/drawing/2014/main" id="{4234381D-507F-EB08-0844-43ACD1C56DB7}"/>
              </a:ext>
            </a:extLst>
          </p:cNvPr>
          <p:cNvGrpSpPr/>
          <p:nvPr/>
        </p:nvGrpSpPr>
        <p:grpSpPr>
          <a:xfrm>
            <a:off x="7499806" y="2034717"/>
            <a:ext cx="6997244" cy="6092247"/>
            <a:chOff x="7499806" y="2034717"/>
            <a:chExt cx="6997244" cy="6092247"/>
          </a:xfrm>
        </p:grpSpPr>
        <p:sp>
          <p:nvSpPr>
            <p:cNvPr id="6" name="Text 5">
              <a:extLst>
                <a:ext uri="{FF2B5EF4-FFF2-40B4-BE49-F238E27FC236}">
                  <a16:creationId xmlns:a16="http://schemas.microsoft.com/office/drawing/2014/main" id="{46565B2F-9463-1863-358E-EB7265996170}"/>
                </a:ext>
              </a:extLst>
            </p:cNvPr>
            <p:cNvSpPr/>
            <p:nvPr/>
          </p:nvSpPr>
          <p:spPr>
            <a:xfrm>
              <a:off x="7499806" y="2034717"/>
              <a:ext cx="6298288" cy="4442283"/>
            </a:xfrm>
            <a:prstGeom prst="rect">
              <a:avLst/>
            </a:prstGeom>
            <a:noFill/>
            <a:ln/>
          </p:spPr>
          <p:txBody>
            <a:bodyPr wrap="square" lIns="0" tIns="0" rIns="0" bIns="0" rtlCol="0" anchor="t"/>
            <a:lstStyle/>
            <a:p>
              <a:pPr>
                <a:lnSpc>
                  <a:spcPts val="2550"/>
                </a:lnSpc>
              </a:pPr>
              <a:r>
                <a:rPr lang="en-US" sz="2400" b="1" dirty="0">
                  <a:solidFill>
                    <a:srgbClr val="CFCBBF"/>
                  </a:solidFill>
                  <a:latin typeface="Raleway" pitchFamily="34" charset="0"/>
                </a:rPr>
                <a:t>Insight</a:t>
              </a:r>
            </a:p>
            <a:p>
              <a:pPr>
                <a:lnSpc>
                  <a:spcPts val="2550"/>
                </a:lnSpc>
              </a:pPr>
              <a:endParaRPr lang="en-US" sz="2000" b="1"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1700" dirty="0">
                  <a:solidFill>
                    <a:srgbClr val="CFCBBF"/>
                  </a:solidFill>
                  <a:latin typeface="Raleway" pitchFamily="34" charset="0"/>
                </a:rPr>
                <a:t>Mountain-200 Black variants consistently generate the highest sales among top products.</a:t>
              </a:r>
            </a:p>
            <a:p>
              <a:pPr marL="285750" indent="-285750">
                <a:lnSpc>
                  <a:spcPts val="2550"/>
                </a:lnSpc>
                <a:buFont typeface="Arial" panose="020B0604020202020204" pitchFamily="34" charset="0"/>
                <a:buChar char="•"/>
              </a:pPr>
              <a:endParaRPr lang="en-US" sz="1700"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1700" dirty="0">
                  <a:solidFill>
                    <a:srgbClr val="CFCBBF"/>
                  </a:solidFill>
                  <a:latin typeface="Raleway" pitchFamily="34" charset="0"/>
                </a:rPr>
                <a:t>Sales across the top 5 products are fairly balanced, showing diversified product demand.</a:t>
              </a:r>
            </a:p>
            <a:p>
              <a:pPr marL="285750" indent="-285750">
                <a:lnSpc>
                  <a:spcPts val="2550"/>
                </a:lnSpc>
                <a:buFont typeface="Arial" panose="020B0604020202020204" pitchFamily="34" charset="0"/>
                <a:buChar char="•"/>
              </a:pPr>
              <a:endParaRPr lang="en-US" sz="1700"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1700" dirty="0">
                  <a:solidFill>
                    <a:srgbClr val="CFCBBF"/>
                  </a:solidFill>
                  <a:latin typeface="Raleway" pitchFamily="34" charset="0"/>
                </a:rPr>
                <a:t>Consistent performance across variants suggests demand is product-led rather than promotion-led..</a:t>
              </a:r>
            </a:p>
            <a:p>
              <a:pPr marL="285750" indent="-285750">
                <a:lnSpc>
                  <a:spcPts val="2550"/>
                </a:lnSpc>
                <a:buFont typeface="Arial" panose="020B0604020202020204" pitchFamily="34" charset="0"/>
                <a:buChar char="•"/>
              </a:pPr>
              <a:endParaRPr lang="en-US" sz="1700"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1700" dirty="0">
                  <a:solidFill>
                    <a:srgbClr val="CFCBBF"/>
                  </a:solidFill>
                  <a:latin typeface="Raleway" pitchFamily="34" charset="0"/>
                </a:rPr>
                <a:t>Focusing inventory, pricing, and marketing on these top SKUs can maximize revenue efficiency.</a:t>
              </a:r>
            </a:p>
          </p:txBody>
        </p:sp>
        <p:sp>
          <p:nvSpPr>
            <p:cNvPr id="8" name="Rectangle 7">
              <a:extLst>
                <a:ext uri="{FF2B5EF4-FFF2-40B4-BE49-F238E27FC236}">
                  <a16:creationId xmlns:a16="http://schemas.microsoft.com/office/drawing/2014/main" id="{2E30C970-601E-39BF-7C0C-30E5D725AECA}"/>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0587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0D91D-006F-4271-A984-39CF635BC95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7907073-9712-DD7D-6322-18AE503F37F5}"/>
              </a:ext>
            </a:extLst>
          </p:cNvPr>
          <p:cNvSpPr/>
          <p:nvPr/>
        </p:nvSpPr>
        <p:spPr>
          <a:xfrm>
            <a:off x="4200525" y="688747"/>
            <a:ext cx="5469611" cy="638175"/>
          </a:xfrm>
          <a:prstGeom prst="rect">
            <a:avLst/>
          </a:prstGeom>
          <a:noFill/>
          <a:ln/>
        </p:spPr>
        <p:txBody>
          <a:bodyPr wrap="none" lIns="0" tIns="0" rIns="0" bIns="0" rtlCol="0" anchor="t"/>
          <a:lstStyle/>
          <a:p>
            <a:pPr algn="ctr">
              <a:lnSpc>
                <a:spcPts val="3300"/>
              </a:lnSpc>
            </a:pPr>
            <a:r>
              <a:rPr lang="en-US" sz="2800" b="1" dirty="0">
                <a:solidFill>
                  <a:srgbClr val="CFCBBF"/>
                </a:solidFill>
                <a:latin typeface="Prata" pitchFamily="34" charset="0"/>
                <a:ea typeface="Prata" pitchFamily="34" charset="-122"/>
                <a:cs typeface="Prata" pitchFamily="34" charset="-120"/>
              </a:rPr>
              <a:t>Country &amp; Region Wise Profit</a:t>
            </a:r>
            <a:endParaRPr lang="en-US" sz="2800" b="1" dirty="0"/>
          </a:p>
          <a:p>
            <a:pPr algn="ctr">
              <a:lnSpc>
                <a:spcPts val="3300"/>
              </a:lnSpc>
            </a:pPr>
            <a:endParaRPr lang="en-US" sz="2800" b="1" dirty="0"/>
          </a:p>
        </p:txBody>
      </p:sp>
      <p:pic>
        <p:nvPicPr>
          <p:cNvPr id="5" name="Picture 4">
            <a:extLst>
              <a:ext uri="{FF2B5EF4-FFF2-40B4-BE49-F238E27FC236}">
                <a16:creationId xmlns:a16="http://schemas.microsoft.com/office/drawing/2014/main" id="{1972A739-7348-8279-7D9B-59581C2876FD}"/>
              </a:ext>
            </a:extLst>
          </p:cNvPr>
          <p:cNvPicPr>
            <a:picLocks noChangeAspect="1"/>
          </p:cNvPicPr>
          <p:nvPr/>
        </p:nvPicPr>
        <p:blipFill>
          <a:blip r:embed="rId3"/>
          <a:stretch>
            <a:fillRect/>
          </a:stretch>
        </p:blipFill>
        <p:spPr>
          <a:xfrm>
            <a:off x="7934325" y="1446668"/>
            <a:ext cx="5388750" cy="3687308"/>
          </a:xfrm>
          <a:prstGeom prst="rect">
            <a:avLst/>
          </a:prstGeom>
        </p:spPr>
      </p:pic>
      <p:pic>
        <p:nvPicPr>
          <p:cNvPr id="7" name="Picture 6">
            <a:extLst>
              <a:ext uri="{FF2B5EF4-FFF2-40B4-BE49-F238E27FC236}">
                <a16:creationId xmlns:a16="http://schemas.microsoft.com/office/drawing/2014/main" id="{6B3D5C43-E188-199B-4031-0D1CC36D734A}"/>
              </a:ext>
            </a:extLst>
          </p:cNvPr>
          <p:cNvPicPr>
            <a:picLocks noChangeAspect="1"/>
          </p:cNvPicPr>
          <p:nvPr/>
        </p:nvPicPr>
        <p:blipFill>
          <a:blip r:embed="rId4"/>
          <a:stretch>
            <a:fillRect/>
          </a:stretch>
        </p:blipFill>
        <p:spPr>
          <a:xfrm>
            <a:off x="1226465" y="1446668"/>
            <a:ext cx="5469611" cy="3687307"/>
          </a:xfrm>
          <a:prstGeom prst="rect">
            <a:avLst/>
          </a:prstGeom>
        </p:spPr>
      </p:pic>
      <p:grpSp>
        <p:nvGrpSpPr>
          <p:cNvPr id="11" name="Group 10">
            <a:extLst>
              <a:ext uri="{FF2B5EF4-FFF2-40B4-BE49-F238E27FC236}">
                <a16:creationId xmlns:a16="http://schemas.microsoft.com/office/drawing/2014/main" id="{1173633D-EBA2-B444-4FAE-B1E666472D47}"/>
              </a:ext>
            </a:extLst>
          </p:cNvPr>
          <p:cNvGrpSpPr/>
          <p:nvPr/>
        </p:nvGrpSpPr>
        <p:grpSpPr>
          <a:xfrm>
            <a:off x="1226465" y="5450115"/>
            <a:ext cx="13270585" cy="2676849"/>
            <a:chOff x="1226465" y="5450115"/>
            <a:chExt cx="13270585" cy="2676849"/>
          </a:xfrm>
        </p:grpSpPr>
        <p:sp>
          <p:nvSpPr>
            <p:cNvPr id="9" name="Text 5">
              <a:extLst>
                <a:ext uri="{FF2B5EF4-FFF2-40B4-BE49-F238E27FC236}">
                  <a16:creationId xmlns:a16="http://schemas.microsoft.com/office/drawing/2014/main" id="{9678614A-3F02-4462-ECFE-C187AAC7ACB6}"/>
                </a:ext>
              </a:extLst>
            </p:cNvPr>
            <p:cNvSpPr/>
            <p:nvPr/>
          </p:nvSpPr>
          <p:spPr>
            <a:xfrm>
              <a:off x="1226465" y="5450115"/>
              <a:ext cx="12096610" cy="2665634"/>
            </a:xfrm>
            <a:prstGeom prst="rect">
              <a:avLst/>
            </a:prstGeom>
            <a:noFill/>
            <a:ln/>
          </p:spPr>
          <p:txBody>
            <a:bodyPr wrap="square" lIns="0" tIns="0" rIns="0" bIns="0" rtlCol="0" anchor="t"/>
            <a:lstStyle/>
            <a:p>
              <a:pPr>
                <a:lnSpc>
                  <a:spcPts val="2550"/>
                </a:lnSpc>
              </a:pPr>
              <a:r>
                <a:rPr lang="en-US" sz="2400" b="1" dirty="0">
                  <a:solidFill>
                    <a:srgbClr val="CFCBBF"/>
                  </a:solidFill>
                  <a:latin typeface="Raleway" pitchFamily="34" charset="0"/>
                </a:rPr>
                <a:t>Insight</a:t>
              </a:r>
            </a:p>
            <a:p>
              <a:pPr>
                <a:lnSpc>
                  <a:spcPts val="2550"/>
                </a:lnSpc>
              </a:pPr>
              <a:endParaRPr lang="en-US" sz="2000" b="1"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2000" dirty="0">
                  <a:solidFill>
                    <a:srgbClr val="CFCBBF"/>
                  </a:solidFill>
                  <a:latin typeface="Raleway" pitchFamily="34" charset="0"/>
                </a:rPr>
                <a:t>United States and Australia are the strongest profit-generating markets.</a:t>
              </a:r>
            </a:p>
            <a:p>
              <a:pPr>
                <a:lnSpc>
                  <a:spcPts val="2550"/>
                </a:lnSpc>
              </a:pPr>
              <a:endParaRPr lang="en-US" sz="2000"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2000" dirty="0">
                  <a:solidFill>
                    <a:srgbClr val="CFCBBF"/>
                  </a:solidFill>
                  <a:latin typeface="Raleway" pitchFamily="34" charset="0"/>
                </a:rPr>
                <a:t>European regions (France, Germany, UK) contribute steady but moderate profits.</a:t>
              </a:r>
            </a:p>
            <a:p>
              <a:pPr>
                <a:lnSpc>
                  <a:spcPts val="2550"/>
                </a:lnSpc>
              </a:pPr>
              <a:endParaRPr lang="en-US" sz="2000" dirty="0">
                <a:solidFill>
                  <a:srgbClr val="CFCBBF"/>
                </a:solidFill>
                <a:latin typeface="Raleway" pitchFamily="34" charset="0"/>
              </a:endParaRPr>
            </a:p>
            <a:p>
              <a:pPr marL="285750" indent="-285750">
                <a:lnSpc>
                  <a:spcPts val="2550"/>
                </a:lnSpc>
                <a:buFont typeface="Arial" panose="020B0604020202020204" pitchFamily="34" charset="0"/>
                <a:buChar char="•"/>
              </a:pPr>
              <a:r>
                <a:rPr lang="en-US" sz="2000" dirty="0">
                  <a:solidFill>
                    <a:srgbClr val="CFCBBF"/>
                  </a:solidFill>
                  <a:latin typeface="Raleway" pitchFamily="34" charset="0"/>
                </a:rPr>
                <a:t>Strategic focus on high-performing regions can significantly boost overall profitability.</a:t>
              </a:r>
            </a:p>
          </p:txBody>
        </p:sp>
        <p:sp>
          <p:nvSpPr>
            <p:cNvPr id="10" name="Rectangle 9">
              <a:extLst>
                <a:ext uri="{FF2B5EF4-FFF2-40B4-BE49-F238E27FC236}">
                  <a16:creationId xmlns:a16="http://schemas.microsoft.com/office/drawing/2014/main" id="{EDFE900C-E324-4EE2-EF34-EBF540108216}"/>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3025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07196" y="1035784"/>
            <a:ext cx="12816007" cy="708779"/>
          </a:xfrm>
          <a:prstGeom prst="rect">
            <a:avLst/>
          </a:prstGeom>
          <a:noFill/>
          <a:ln/>
        </p:spPr>
        <p:txBody>
          <a:bodyPr wrap="none" lIns="0" tIns="0" rIns="0" bIns="0" rtlCol="0" anchor="t"/>
          <a:lstStyle/>
          <a:p>
            <a:pPr>
              <a:lnSpc>
                <a:spcPts val="5550"/>
              </a:lnSpc>
            </a:pPr>
            <a:r>
              <a:rPr lang="en-US" sz="445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Recommendations &amp; Insights</a:t>
            </a:r>
          </a:p>
        </p:txBody>
      </p:sp>
      <p:sp>
        <p:nvSpPr>
          <p:cNvPr id="3" name="Shape 1"/>
          <p:cNvSpPr/>
          <p:nvPr/>
        </p:nvSpPr>
        <p:spPr>
          <a:xfrm>
            <a:off x="793790" y="2232303"/>
            <a:ext cx="6407944" cy="680442"/>
          </a:xfrm>
          <a:prstGeom prst="roundRect">
            <a:avLst>
              <a:gd name="adj" fmla="val 480029"/>
            </a:avLst>
          </a:prstGeom>
          <a:solidFill>
            <a:srgbClr val="3A3B3C"/>
          </a:solidFill>
          <a:ln/>
        </p:spPr>
        <p:txBody>
          <a:bodyPr/>
          <a:lstStyle/>
          <a:p>
            <a:endParaRPr lang="en-US"/>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27621" y="2402324"/>
            <a:ext cx="340162" cy="340162"/>
          </a:xfrm>
          <a:prstGeom prst="rect">
            <a:avLst/>
          </a:prstGeom>
        </p:spPr>
      </p:pic>
      <p:sp>
        <p:nvSpPr>
          <p:cNvPr id="5" name="Text 2"/>
          <p:cNvSpPr/>
          <p:nvPr/>
        </p:nvSpPr>
        <p:spPr>
          <a:xfrm>
            <a:off x="1020604" y="3139559"/>
            <a:ext cx="3993237"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Target High-Profit Customers</a:t>
            </a:r>
            <a:endParaRPr lang="en-US" sz="2200" dirty="0"/>
          </a:p>
        </p:txBody>
      </p:sp>
      <p:sp>
        <p:nvSpPr>
          <p:cNvPr id="6" name="Text 3"/>
          <p:cNvSpPr/>
          <p:nvPr/>
        </p:nvSpPr>
        <p:spPr>
          <a:xfrm>
            <a:off x="1020604" y="3554076"/>
            <a:ext cx="5954316" cy="1105734"/>
          </a:xfrm>
          <a:prstGeom prst="rect">
            <a:avLst/>
          </a:prstGeom>
          <a:noFill/>
          <a:ln/>
        </p:spPr>
        <p:txBody>
          <a:bodyPr wrap="square" lIns="0" tIns="0" rIns="0" bIns="0" rtlCol="0" anchor="t"/>
          <a:lstStyle/>
          <a:p>
            <a:pPr>
              <a:lnSpc>
                <a:spcPts val="2850"/>
              </a:lnSpc>
            </a:pPr>
            <a:r>
              <a:rPr lang="en-US" sz="1750" dirty="0">
                <a:solidFill>
                  <a:srgbClr val="CFCBBF"/>
                </a:solidFill>
                <a:latin typeface="Raleway" pitchFamily="34" charset="0"/>
                <a:ea typeface="Raleway" pitchFamily="34" charset="-122"/>
                <a:cs typeface="Raleway" pitchFamily="34" charset="-120"/>
              </a:rPr>
              <a:t>A small group of customers contributes a major share of profit. Prioritizing retention and personalized engagement for these customers can maximize returns.</a:t>
            </a:r>
            <a:endParaRPr lang="en-US" sz="1750" dirty="0"/>
          </a:p>
        </p:txBody>
      </p:sp>
      <p:sp>
        <p:nvSpPr>
          <p:cNvPr id="7" name="Shape 4"/>
          <p:cNvSpPr/>
          <p:nvPr/>
        </p:nvSpPr>
        <p:spPr>
          <a:xfrm>
            <a:off x="7428548" y="2232303"/>
            <a:ext cx="6408063" cy="680442"/>
          </a:xfrm>
          <a:prstGeom prst="roundRect">
            <a:avLst>
              <a:gd name="adj" fmla="val 480029"/>
            </a:avLst>
          </a:prstGeom>
          <a:solidFill>
            <a:srgbClr val="3A3B3C"/>
          </a:solidFill>
          <a:ln/>
        </p:spPr>
        <p:txBody>
          <a:bodyPr/>
          <a:lstStyle/>
          <a:p>
            <a:endParaRPr lang="en-US"/>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2498" y="2402324"/>
            <a:ext cx="340162" cy="340162"/>
          </a:xfrm>
          <a:prstGeom prst="rect">
            <a:avLst/>
          </a:prstGeom>
        </p:spPr>
      </p:pic>
      <p:sp>
        <p:nvSpPr>
          <p:cNvPr id="9" name="Text 5"/>
          <p:cNvSpPr/>
          <p:nvPr/>
        </p:nvSpPr>
        <p:spPr>
          <a:xfrm>
            <a:off x="7655362" y="3139559"/>
            <a:ext cx="3792141"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Optimize Product Inventory</a:t>
            </a:r>
            <a:endParaRPr lang="en-US" sz="2200" dirty="0"/>
          </a:p>
        </p:txBody>
      </p:sp>
      <p:sp>
        <p:nvSpPr>
          <p:cNvPr id="10" name="Text 6"/>
          <p:cNvSpPr/>
          <p:nvPr/>
        </p:nvSpPr>
        <p:spPr>
          <a:xfrm>
            <a:off x="7655362" y="3629978"/>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Increase stock levels for top-selling products to meet demand and prevent stockouts.</a:t>
            </a:r>
            <a:endParaRPr lang="en-US" sz="1750" dirty="0"/>
          </a:p>
        </p:txBody>
      </p:sp>
      <p:sp>
        <p:nvSpPr>
          <p:cNvPr id="11" name="Shape 7"/>
          <p:cNvSpPr/>
          <p:nvPr/>
        </p:nvSpPr>
        <p:spPr>
          <a:xfrm>
            <a:off x="793790" y="4809411"/>
            <a:ext cx="6407944" cy="680442"/>
          </a:xfrm>
          <a:prstGeom prst="roundRect">
            <a:avLst>
              <a:gd name="adj" fmla="val 480029"/>
            </a:avLst>
          </a:prstGeom>
          <a:solidFill>
            <a:srgbClr val="3A3B3C"/>
          </a:solidFill>
          <a:ln/>
        </p:spPr>
        <p:txBody>
          <a:bodyPr/>
          <a:lstStyle/>
          <a:p>
            <a:endParaRPr lang="en-US"/>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27621" y="4979432"/>
            <a:ext cx="340162" cy="340162"/>
          </a:xfrm>
          <a:prstGeom prst="rect">
            <a:avLst/>
          </a:prstGeom>
        </p:spPr>
      </p:pic>
      <p:sp>
        <p:nvSpPr>
          <p:cNvPr id="13" name="Text 8"/>
          <p:cNvSpPr/>
          <p:nvPr/>
        </p:nvSpPr>
        <p:spPr>
          <a:xfrm>
            <a:off x="1020604" y="5716667"/>
            <a:ext cx="3326487"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Enhance Cost Efficiency</a:t>
            </a:r>
            <a:endParaRPr lang="en-US" sz="2200" dirty="0"/>
          </a:p>
        </p:txBody>
      </p:sp>
      <p:sp>
        <p:nvSpPr>
          <p:cNvPr id="14" name="Text 9"/>
          <p:cNvSpPr/>
          <p:nvPr/>
        </p:nvSpPr>
        <p:spPr>
          <a:xfrm>
            <a:off x="1020604" y="6207085"/>
            <a:ext cx="5954316" cy="1179434"/>
          </a:xfrm>
          <a:prstGeom prst="rect">
            <a:avLst/>
          </a:prstGeom>
          <a:noFill/>
          <a:ln/>
        </p:spPr>
        <p:txBody>
          <a:bodyPr wrap="square" lIns="0" tIns="0" rIns="0" bIns="0" rtlCol="0" anchor="t"/>
          <a:lstStyle/>
          <a:p>
            <a:pPr>
              <a:lnSpc>
                <a:spcPts val="2850"/>
              </a:lnSpc>
            </a:pPr>
            <a:r>
              <a:rPr lang="en-US" sz="1750" dirty="0">
                <a:solidFill>
                  <a:srgbClr val="CFCBBF"/>
                </a:solidFill>
                <a:latin typeface="Raleway" pitchFamily="34" charset="0"/>
                <a:ea typeface="Raleway" pitchFamily="34" charset="-122"/>
                <a:cs typeface="Raleway" pitchFamily="34" charset="-120"/>
              </a:rPr>
              <a:t>Some regions and products show low or zero profitability. Reviewing costs in these areas can help improve margins or guide strategic adjustments.</a:t>
            </a:r>
            <a:endParaRPr lang="en-US" sz="1750" dirty="0"/>
          </a:p>
        </p:txBody>
      </p:sp>
      <p:sp>
        <p:nvSpPr>
          <p:cNvPr id="15" name="Shape 10"/>
          <p:cNvSpPr/>
          <p:nvPr/>
        </p:nvSpPr>
        <p:spPr>
          <a:xfrm>
            <a:off x="7428548" y="4809411"/>
            <a:ext cx="6408063" cy="680442"/>
          </a:xfrm>
          <a:prstGeom prst="roundRect">
            <a:avLst>
              <a:gd name="adj" fmla="val 480029"/>
            </a:avLst>
          </a:prstGeom>
          <a:solidFill>
            <a:srgbClr val="3A3B3C"/>
          </a:solidFill>
          <a:ln/>
        </p:spPr>
        <p:txBody>
          <a:bodyPr/>
          <a:lstStyle/>
          <a:p>
            <a:endParaRPr lang="en-US"/>
          </a:p>
        </p:txBody>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62498" y="4979432"/>
            <a:ext cx="340162" cy="340162"/>
          </a:xfrm>
          <a:prstGeom prst="rect">
            <a:avLst/>
          </a:prstGeom>
        </p:spPr>
      </p:pic>
      <p:sp>
        <p:nvSpPr>
          <p:cNvPr id="17" name="Text 11"/>
          <p:cNvSpPr/>
          <p:nvPr/>
        </p:nvSpPr>
        <p:spPr>
          <a:xfrm>
            <a:off x="7655362" y="57166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Expand Digital Sales</a:t>
            </a:r>
            <a:endParaRPr lang="en-US" sz="2200" dirty="0"/>
          </a:p>
        </p:txBody>
      </p:sp>
      <p:grpSp>
        <p:nvGrpSpPr>
          <p:cNvPr id="20" name="Group 19">
            <a:extLst>
              <a:ext uri="{FF2B5EF4-FFF2-40B4-BE49-F238E27FC236}">
                <a16:creationId xmlns:a16="http://schemas.microsoft.com/office/drawing/2014/main" id="{B6FDEE27-0D69-70BF-9F42-C09C976E6177}"/>
              </a:ext>
            </a:extLst>
          </p:cNvPr>
          <p:cNvGrpSpPr/>
          <p:nvPr/>
        </p:nvGrpSpPr>
        <p:grpSpPr>
          <a:xfrm>
            <a:off x="7655362" y="6207085"/>
            <a:ext cx="6841688" cy="1919879"/>
            <a:chOff x="7655362" y="6207085"/>
            <a:chExt cx="6841688" cy="1919879"/>
          </a:xfrm>
        </p:grpSpPr>
        <p:sp>
          <p:nvSpPr>
            <p:cNvPr id="18" name="Text 12"/>
            <p:cNvSpPr/>
            <p:nvPr/>
          </p:nvSpPr>
          <p:spPr>
            <a:xfrm>
              <a:off x="7655362" y="6207085"/>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Invest in and grow online sales channels to reach a broader audience and improve accessibility.</a:t>
              </a:r>
              <a:endParaRPr lang="en-US" sz="1750" dirty="0"/>
            </a:p>
          </p:txBody>
        </p:sp>
        <p:sp>
          <p:nvSpPr>
            <p:cNvPr id="19" name="Rectangle 18">
              <a:extLst>
                <a:ext uri="{FF2B5EF4-FFF2-40B4-BE49-F238E27FC236}">
                  <a16:creationId xmlns:a16="http://schemas.microsoft.com/office/drawing/2014/main" id="{CED0BB9D-8A1E-F6CD-92BD-EFF4FBB9CE7D}"/>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4" name="Text 0">
            <a:extLst>
              <a:ext uri="{FF2B5EF4-FFF2-40B4-BE49-F238E27FC236}">
                <a16:creationId xmlns:a16="http://schemas.microsoft.com/office/drawing/2014/main" id="{78D7ADEA-EA37-0B02-7533-D75738F8C1F4}"/>
              </a:ext>
            </a:extLst>
          </p:cNvPr>
          <p:cNvSpPr/>
          <p:nvPr/>
        </p:nvSpPr>
        <p:spPr>
          <a:xfrm>
            <a:off x="5611386" y="499943"/>
            <a:ext cx="3407628" cy="708779"/>
          </a:xfrm>
          <a:prstGeom prst="rect">
            <a:avLst/>
          </a:prstGeom>
          <a:noFill/>
          <a:ln/>
        </p:spPr>
        <p:txBody>
          <a:bodyPr wrap="none" lIns="0" tIns="0" rIns="0" bIns="0" rtlCol="0" anchor="t"/>
          <a:lstStyle/>
          <a:p>
            <a:pPr marL="0" indent="0" algn="l">
              <a:lnSpc>
                <a:spcPts val="5550"/>
              </a:lnSpc>
              <a:buNone/>
            </a:pPr>
            <a:r>
              <a:rPr lang="en-US" sz="445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Conclusion</a:t>
            </a:r>
          </a:p>
        </p:txBody>
      </p:sp>
      <p:grpSp>
        <p:nvGrpSpPr>
          <p:cNvPr id="17" name="Group 16">
            <a:extLst>
              <a:ext uri="{FF2B5EF4-FFF2-40B4-BE49-F238E27FC236}">
                <a16:creationId xmlns:a16="http://schemas.microsoft.com/office/drawing/2014/main" id="{0CA670A2-92FB-6D29-EDB8-A00C933E2362}"/>
              </a:ext>
            </a:extLst>
          </p:cNvPr>
          <p:cNvGrpSpPr/>
          <p:nvPr/>
        </p:nvGrpSpPr>
        <p:grpSpPr>
          <a:xfrm>
            <a:off x="761999" y="1497239"/>
            <a:ext cx="13735051" cy="6629725"/>
            <a:chOff x="761999" y="1497239"/>
            <a:chExt cx="13735051" cy="6629725"/>
          </a:xfrm>
        </p:grpSpPr>
        <p:sp>
          <p:nvSpPr>
            <p:cNvPr id="15" name="Text 5">
              <a:extLst>
                <a:ext uri="{FF2B5EF4-FFF2-40B4-BE49-F238E27FC236}">
                  <a16:creationId xmlns:a16="http://schemas.microsoft.com/office/drawing/2014/main" id="{F8C5B21A-3DC0-0883-CD0F-8C153FBE1FDE}"/>
                </a:ext>
              </a:extLst>
            </p:cNvPr>
            <p:cNvSpPr/>
            <p:nvPr/>
          </p:nvSpPr>
          <p:spPr>
            <a:xfrm>
              <a:off x="761999" y="1497239"/>
              <a:ext cx="13154025" cy="4703536"/>
            </a:xfrm>
            <a:prstGeom prst="rect">
              <a:avLst/>
            </a:prstGeom>
            <a:noFill/>
            <a:ln/>
          </p:spPr>
          <p:txBody>
            <a:bodyPr wrap="square" lIns="0" tIns="0" rIns="0" bIns="0" rtlCol="0" anchor="t"/>
            <a:lstStyle/>
            <a:p>
              <a:pPr algn="just">
                <a:lnSpc>
                  <a:spcPct val="150000"/>
                </a:lnSpc>
              </a:pPr>
              <a:r>
                <a:rPr lang="en-US" sz="2400" dirty="0">
                  <a:solidFill>
                    <a:srgbClr val="CFCBBF"/>
                  </a:solidFill>
                  <a:latin typeface="Raleway" pitchFamily="34" charset="0"/>
                </a:rPr>
                <a:t>Overall, the business performance shows that sales and profit are mainly driven by a small number of key products, customers, and regions. The Mountain-200 product series contributes significantly to total sales, indicating strong and consistent demand. Profit is highly concentrated in regions such as the United States and Australia, while a few customers account for a large share of overall profit. At the same time, some regions and segments generate very low or no profit, highlighting areas that need cost control or performance improvement. In summary, the business is doing well, and future growth can be achieved by strengthening high-performing areas and improving weaker ones.</a:t>
              </a:r>
              <a:endParaRPr lang="en-US" sz="2000" dirty="0">
                <a:solidFill>
                  <a:srgbClr val="CFCBBF"/>
                </a:solidFill>
                <a:latin typeface="Raleway" pitchFamily="34" charset="0"/>
              </a:endParaRPr>
            </a:p>
          </p:txBody>
        </p:sp>
        <p:sp>
          <p:nvSpPr>
            <p:cNvPr id="16" name="Rectangle 15">
              <a:extLst>
                <a:ext uri="{FF2B5EF4-FFF2-40B4-BE49-F238E27FC236}">
                  <a16:creationId xmlns:a16="http://schemas.microsoft.com/office/drawing/2014/main" id="{290845C4-EF06-74A0-AE5D-B134507EFB10}"/>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A1F69-D118-1515-3C79-521C2328675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9EF0E4B-ECCB-3AE5-5DAF-A5AF9AB13C44}"/>
              </a:ext>
            </a:extLst>
          </p:cNvPr>
          <p:cNvSpPr/>
          <p:nvPr/>
        </p:nvSpPr>
        <p:spPr>
          <a:xfrm>
            <a:off x="6138862" y="1250037"/>
            <a:ext cx="7415213" cy="582573"/>
          </a:xfrm>
          <a:prstGeom prst="rect">
            <a:avLst/>
          </a:prstGeom>
          <a:noFill/>
          <a:ln/>
        </p:spPr>
        <p:txBody>
          <a:bodyPr wrap="none" lIns="0" tIns="0" rIns="0" bIns="0" rtlCol="0" anchor="t"/>
          <a:lstStyle/>
          <a:p>
            <a:pPr>
              <a:lnSpc>
                <a:spcPts val="5550"/>
              </a:lnSpc>
            </a:pPr>
            <a:r>
              <a:rPr lang="en-US" sz="365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Key Takeaways &amp; Future Outlook</a:t>
            </a:r>
          </a:p>
        </p:txBody>
      </p:sp>
      <p:sp>
        <p:nvSpPr>
          <p:cNvPr id="4" name="Text 1">
            <a:extLst>
              <a:ext uri="{FF2B5EF4-FFF2-40B4-BE49-F238E27FC236}">
                <a16:creationId xmlns:a16="http://schemas.microsoft.com/office/drawing/2014/main" id="{37EE4A25-1CD5-961F-710E-E41983039320}"/>
              </a:ext>
            </a:extLst>
          </p:cNvPr>
          <p:cNvSpPr/>
          <p:nvPr/>
        </p:nvSpPr>
        <p:spPr>
          <a:xfrm>
            <a:off x="6138861" y="2298502"/>
            <a:ext cx="3338513" cy="291227"/>
          </a:xfrm>
          <a:prstGeom prst="rect">
            <a:avLst/>
          </a:prstGeom>
          <a:noFill/>
          <a:ln/>
        </p:spPr>
        <p:txBody>
          <a:bodyPr wrap="none" lIns="0" tIns="0" rIns="0" bIns="0" rtlCol="0" anchor="t"/>
          <a:lstStyle/>
          <a:p>
            <a:pPr marL="0" indent="0" algn="l">
              <a:lnSpc>
                <a:spcPts val="2250"/>
              </a:lnSpc>
              <a:buNone/>
            </a:pPr>
            <a:r>
              <a:rPr lang="en-US" sz="2400" dirty="0">
                <a:solidFill>
                  <a:srgbClr val="F2E782"/>
                </a:solidFill>
                <a:latin typeface="Prata" pitchFamily="34" charset="0"/>
                <a:ea typeface="Prata" pitchFamily="34" charset="-122"/>
                <a:cs typeface="Prata" pitchFamily="34" charset="-120"/>
              </a:rPr>
              <a:t>Challenges Overcome</a:t>
            </a:r>
            <a:endParaRPr lang="en-US" sz="2400" dirty="0"/>
          </a:p>
        </p:txBody>
      </p:sp>
      <p:sp>
        <p:nvSpPr>
          <p:cNvPr id="5" name="Text 2">
            <a:extLst>
              <a:ext uri="{FF2B5EF4-FFF2-40B4-BE49-F238E27FC236}">
                <a16:creationId xmlns:a16="http://schemas.microsoft.com/office/drawing/2014/main" id="{5F0EBC4A-8CAD-6134-568B-2AFE53D6EAEB}"/>
              </a:ext>
            </a:extLst>
          </p:cNvPr>
          <p:cNvSpPr/>
          <p:nvPr/>
        </p:nvSpPr>
        <p:spPr>
          <a:xfrm>
            <a:off x="6138862" y="2776061"/>
            <a:ext cx="3692128" cy="933212"/>
          </a:xfrm>
          <a:prstGeom prst="rect">
            <a:avLst/>
          </a:prstGeom>
          <a:noFill/>
          <a:ln/>
        </p:spPr>
        <p:txBody>
          <a:bodyPr wrap="square" lIns="0" tIns="0" rIns="0" bIns="0" rtlCol="0" anchor="t"/>
          <a:lstStyle/>
          <a:p>
            <a:pPr marL="342900" indent="-342900">
              <a:lnSpc>
                <a:spcPts val="2300"/>
              </a:lnSpc>
              <a:buSzPct val="100000"/>
              <a:buChar char="•"/>
            </a:pPr>
            <a:r>
              <a:rPr lang="en-US" sz="2000" dirty="0">
                <a:solidFill>
                  <a:srgbClr val="CFCBBF"/>
                </a:solidFill>
                <a:latin typeface="Raleway" pitchFamily="34" charset="0"/>
                <a:ea typeface="Raleway" pitchFamily="34" charset="-122"/>
                <a:cs typeface="Raleway" pitchFamily="34" charset="-120"/>
              </a:rPr>
              <a:t>Designing dynamic dashboards with slicers, filters, and bookmarks.</a:t>
            </a:r>
            <a:endParaRPr lang="en-US" sz="2000" dirty="0"/>
          </a:p>
        </p:txBody>
      </p:sp>
      <p:sp>
        <p:nvSpPr>
          <p:cNvPr id="6" name="Text 3">
            <a:extLst>
              <a:ext uri="{FF2B5EF4-FFF2-40B4-BE49-F238E27FC236}">
                <a16:creationId xmlns:a16="http://schemas.microsoft.com/office/drawing/2014/main" id="{DAAB455F-726A-3178-B6CF-6E4C33A70B9D}"/>
              </a:ext>
            </a:extLst>
          </p:cNvPr>
          <p:cNvSpPr/>
          <p:nvPr/>
        </p:nvSpPr>
        <p:spPr>
          <a:xfrm>
            <a:off x="6081950" y="3778805"/>
            <a:ext cx="3692128" cy="943451"/>
          </a:xfrm>
          <a:prstGeom prst="rect">
            <a:avLst/>
          </a:prstGeom>
          <a:noFill/>
          <a:ln/>
        </p:spPr>
        <p:txBody>
          <a:bodyPr wrap="square" lIns="0" tIns="0" rIns="0" bIns="0" rtlCol="0" anchor="t"/>
          <a:lstStyle/>
          <a:p>
            <a:pPr marL="342900" indent="-342900">
              <a:lnSpc>
                <a:spcPts val="2300"/>
              </a:lnSpc>
              <a:buSzPct val="100000"/>
              <a:buChar char="•"/>
            </a:pPr>
            <a:r>
              <a:rPr lang="en-US" sz="2000" dirty="0">
                <a:solidFill>
                  <a:srgbClr val="CFCBBF"/>
                </a:solidFill>
                <a:latin typeface="Raleway" pitchFamily="34" charset="0"/>
              </a:rPr>
              <a:t>Resolving inconsistent date formats and granularity issues.</a:t>
            </a:r>
          </a:p>
        </p:txBody>
      </p:sp>
      <p:sp>
        <p:nvSpPr>
          <p:cNvPr id="7" name="Text 4">
            <a:extLst>
              <a:ext uri="{FF2B5EF4-FFF2-40B4-BE49-F238E27FC236}">
                <a16:creationId xmlns:a16="http://schemas.microsoft.com/office/drawing/2014/main" id="{8E046C47-F1AA-F02D-35B4-4C885074344F}"/>
              </a:ext>
            </a:extLst>
          </p:cNvPr>
          <p:cNvSpPr/>
          <p:nvPr/>
        </p:nvSpPr>
        <p:spPr>
          <a:xfrm>
            <a:off x="6138862" y="4791788"/>
            <a:ext cx="3692128" cy="933212"/>
          </a:xfrm>
          <a:prstGeom prst="rect">
            <a:avLst/>
          </a:prstGeom>
          <a:noFill/>
          <a:ln/>
        </p:spPr>
        <p:txBody>
          <a:bodyPr wrap="square" lIns="0" tIns="0" rIns="0" bIns="0" rtlCol="0" anchor="t"/>
          <a:lstStyle/>
          <a:p>
            <a:pPr marL="342900" indent="-342900">
              <a:lnSpc>
                <a:spcPts val="2300"/>
              </a:lnSpc>
              <a:buSzPct val="100000"/>
              <a:buChar char="•"/>
            </a:pPr>
            <a:r>
              <a:rPr lang="en-US" sz="2000" dirty="0">
                <a:solidFill>
                  <a:srgbClr val="CFCBBF"/>
                </a:solidFill>
                <a:latin typeface="Raleway" pitchFamily="34" charset="0"/>
              </a:rPr>
              <a:t>Developing accurate DAX measures for reliable insights.</a:t>
            </a:r>
          </a:p>
        </p:txBody>
      </p:sp>
      <p:sp>
        <p:nvSpPr>
          <p:cNvPr id="8" name="Text 5">
            <a:extLst>
              <a:ext uri="{FF2B5EF4-FFF2-40B4-BE49-F238E27FC236}">
                <a16:creationId xmlns:a16="http://schemas.microsoft.com/office/drawing/2014/main" id="{F73D67F9-AF46-BFC6-B0C8-9A2985D32943}"/>
              </a:ext>
            </a:extLst>
          </p:cNvPr>
          <p:cNvSpPr/>
          <p:nvPr/>
        </p:nvSpPr>
        <p:spPr>
          <a:xfrm>
            <a:off x="10293429" y="2298502"/>
            <a:ext cx="2330410" cy="291227"/>
          </a:xfrm>
          <a:prstGeom prst="rect">
            <a:avLst/>
          </a:prstGeom>
          <a:noFill/>
          <a:ln/>
        </p:spPr>
        <p:txBody>
          <a:bodyPr wrap="none" lIns="0" tIns="0" rIns="0" bIns="0" rtlCol="0" anchor="t"/>
          <a:lstStyle/>
          <a:p>
            <a:pPr marL="0" indent="0" algn="l">
              <a:lnSpc>
                <a:spcPts val="2250"/>
              </a:lnSpc>
              <a:buNone/>
            </a:pPr>
            <a:r>
              <a:rPr lang="en-US" sz="2400" dirty="0">
                <a:solidFill>
                  <a:srgbClr val="F2E782"/>
                </a:solidFill>
                <a:latin typeface="Prata" pitchFamily="34" charset="0"/>
              </a:rPr>
              <a:t>Learnings</a:t>
            </a:r>
            <a:r>
              <a:rPr lang="en-US" sz="1800" dirty="0">
                <a:solidFill>
                  <a:srgbClr val="F2E782"/>
                </a:solidFill>
                <a:latin typeface="Prata" pitchFamily="34" charset="0"/>
                <a:ea typeface="Prata" pitchFamily="34" charset="-122"/>
                <a:cs typeface="Prata" pitchFamily="34" charset="-120"/>
              </a:rPr>
              <a:t> &amp; </a:t>
            </a:r>
            <a:r>
              <a:rPr lang="en-US" sz="2400" dirty="0">
                <a:solidFill>
                  <a:srgbClr val="F2E782"/>
                </a:solidFill>
                <a:latin typeface="Prata" pitchFamily="34" charset="0"/>
              </a:rPr>
              <a:t>Impact</a:t>
            </a:r>
          </a:p>
        </p:txBody>
      </p:sp>
      <p:sp>
        <p:nvSpPr>
          <p:cNvPr id="9" name="Text 6">
            <a:extLst>
              <a:ext uri="{FF2B5EF4-FFF2-40B4-BE49-F238E27FC236}">
                <a16:creationId xmlns:a16="http://schemas.microsoft.com/office/drawing/2014/main" id="{0144D9A1-45EC-9A0F-B75A-CF5AC4661E71}"/>
              </a:ext>
            </a:extLst>
          </p:cNvPr>
          <p:cNvSpPr/>
          <p:nvPr/>
        </p:nvSpPr>
        <p:spPr>
          <a:xfrm>
            <a:off x="10293429" y="2776061"/>
            <a:ext cx="3692128" cy="1002744"/>
          </a:xfrm>
          <a:prstGeom prst="rect">
            <a:avLst/>
          </a:prstGeom>
          <a:noFill/>
          <a:ln/>
        </p:spPr>
        <p:txBody>
          <a:bodyPr wrap="square" lIns="0" tIns="0" rIns="0" bIns="0" rtlCol="0" anchor="t"/>
          <a:lstStyle/>
          <a:p>
            <a:pPr marL="342900" indent="-342900" algn="l">
              <a:lnSpc>
                <a:spcPts val="2300"/>
              </a:lnSpc>
              <a:buSzPct val="100000"/>
              <a:buChar char="•"/>
            </a:pPr>
            <a:r>
              <a:rPr lang="en-US" sz="2000" dirty="0">
                <a:solidFill>
                  <a:srgbClr val="CFCBBF"/>
                </a:solidFill>
                <a:latin typeface="Raleway" pitchFamily="34" charset="0"/>
              </a:rPr>
              <a:t>Mastery of data modeling techniques and DAX calculations</a:t>
            </a:r>
            <a:r>
              <a:rPr lang="en-US" sz="1450" dirty="0">
                <a:solidFill>
                  <a:srgbClr val="CFCBBF"/>
                </a:solidFill>
                <a:latin typeface="Raleway" pitchFamily="34" charset="0"/>
                <a:ea typeface="Raleway" pitchFamily="34" charset="-122"/>
                <a:cs typeface="Raleway" pitchFamily="34" charset="-120"/>
              </a:rPr>
              <a:t>.</a:t>
            </a:r>
            <a:endParaRPr lang="en-US" sz="1450" dirty="0"/>
          </a:p>
        </p:txBody>
      </p:sp>
      <p:sp>
        <p:nvSpPr>
          <p:cNvPr id="10" name="Text 7">
            <a:extLst>
              <a:ext uri="{FF2B5EF4-FFF2-40B4-BE49-F238E27FC236}">
                <a16:creationId xmlns:a16="http://schemas.microsoft.com/office/drawing/2014/main" id="{F5EC63B8-192F-D20F-DCE2-DC41BFA7CF7F}"/>
              </a:ext>
            </a:extLst>
          </p:cNvPr>
          <p:cNvSpPr/>
          <p:nvPr/>
        </p:nvSpPr>
        <p:spPr>
          <a:xfrm>
            <a:off x="10293428" y="3854293"/>
            <a:ext cx="3692128" cy="596503"/>
          </a:xfrm>
          <a:prstGeom prst="rect">
            <a:avLst/>
          </a:prstGeom>
          <a:noFill/>
          <a:ln/>
        </p:spPr>
        <p:txBody>
          <a:bodyPr wrap="square" lIns="0" tIns="0" rIns="0" bIns="0" rtlCol="0" anchor="t"/>
          <a:lstStyle/>
          <a:p>
            <a:pPr marL="342900" indent="-342900" algn="l">
              <a:lnSpc>
                <a:spcPts val="2300"/>
              </a:lnSpc>
              <a:buSzPct val="100000"/>
              <a:buChar char="•"/>
            </a:pPr>
            <a:r>
              <a:rPr lang="en-US" sz="2000" dirty="0">
                <a:solidFill>
                  <a:srgbClr val="CFCBBF"/>
                </a:solidFill>
                <a:latin typeface="Raleway" pitchFamily="34" charset="0"/>
              </a:rPr>
              <a:t>Proficiency in dashboard design for business users.</a:t>
            </a:r>
          </a:p>
        </p:txBody>
      </p:sp>
      <p:sp>
        <p:nvSpPr>
          <p:cNvPr id="11" name="Text 8">
            <a:extLst>
              <a:ext uri="{FF2B5EF4-FFF2-40B4-BE49-F238E27FC236}">
                <a16:creationId xmlns:a16="http://schemas.microsoft.com/office/drawing/2014/main" id="{139990F1-C455-3191-6E8C-47868D72F0A2}"/>
              </a:ext>
            </a:extLst>
          </p:cNvPr>
          <p:cNvSpPr/>
          <p:nvPr/>
        </p:nvSpPr>
        <p:spPr>
          <a:xfrm>
            <a:off x="10293429" y="4672729"/>
            <a:ext cx="3692128" cy="1127760"/>
          </a:xfrm>
          <a:prstGeom prst="rect">
            <a:avLst/>
          </a:prstGeom>
          <a:noFill/>
          <a:ln/>
        </p:spPr>
        <p:txBody>
          <a:bodyPr wrap="square" lIns="0" tIns="0" rIns="0" bIns="0" rtlCol="0" anchor="t"/>
          <a:lstStyle/>
          <a:p>
            <a:pPr marL="342900" indent="-342900">
              <a:lnSpc>
                <a:spcPts val="2300"/>
              </a:lnSpc>
              <a:buSzPct val="100000"/>
              <a:buChar char="•"/>
            </a:pPr>
            <a:r>
              <a:rPr lang="en-US" sz="2000" dirty="0">
                <a:solidFill>
                  <a:srgbClr val="CFCBBF"/>
                </a:solidFill>
                <a:latin typeface="Raleway" pitchFamily="34" charset="0"/>
              </a:rPr>
              <a:t>Understanding how data insights support business decision-making..</a:t>
            </a:r>
          </a:p>
        </p:txBody>
      </p:sp>
      <p:sp>
        <p:nvSpPr>
          <p:cNvPr id="16" name="Text 4">
            <a:extLst>
              <a:ext uri="{FF2B5EF4-FFF2-40B4-BE49-F238E27FC236}">
                <a16:creationId xmlns:a16="http://schemas.microsoft.com/office/drawing/2014/main" id="{23C8A7E8-D6E8-0637-FFEA-B15630CA3EEF}"/>
              </a:ext>
            </a:extLst>
          </p:cNvPr>
          <p:cNvSpPr/>
          <p:nvPr/>
        </p:nvSpPr>
        <p:spPr>
          <a:xfrm>
            <a:off x="6081950" y="5862634"/>
            <a:ext cx="3692128" cy="933212"/>
          </a:xfrm>
          <a:prstGeom prst="rect">
            <a:avLst/>
          </a:prstGeom>
          <a:noFill/>
          <a:ln/>
        </p:spPr>
        <p:txBody>
          <a:bodyPr wrap="square" lIns="0" tIns="0" rIns="0" bIns="0" rtlCol="0" anchor="t"/>
          <a:lstStyle/>
          <a:p>
            <a:pPr marL="342900" indent="-342900">
              <a:lnSpc>
                <a:spcPts val="2300"/>
              </a:lnSpc>
              <a:buSzPct val="100000"/>
              <a:buChar char="•"/>
            </a:pPr>
            <a:r>
              <a:rPr lang="en-US" sz="2000" dirty="0">
                <a:solidFill>
                  <a:srgbClr val="CFCBBF"/>
                </a:solidFill>
                <a:latin typeface="Raleway" pitchFamily="34" charset="0"/>
              </a:rPr>
              <a:t>Handling data cleaning and preparation across multiple data sources.</a:t>
            </a:r>
          </a:p>
        </p:txBody>
      </p:sp>
      <p:grpSp>
        <p:nvGrpSpPr>
          <p:cNvPr id="19" name="Group 18">
            <a:extLst>
              <a:ext uri="{FF2B5EF4-FFF2-40B4-BE49-F238E27FC236}">
                <a16:creationId xmlns:a16="http://schemas.microsoft.com/office/drawing/2014/main" id="{DEFB1AED-5362-869C-3D83-D6961FA78C0F}"/>
              </a:ext>
            </a:extLst>
          </p:cNvPr>
          <p:cNvGrpSpPr/>
          <p:nvPr/>
        </p:nvGrpSpPr>
        <p:grpSpPr>
          <a:xfrm>
            <a:off x="10236517" y="5725000"/>
            <a:ext cx="4260533" cy="2401964"/>
            <a:chOff x="10236517" y="5725000"/>
            <a:chExt cx="4260533" cy="2401964"/>
          </a:xfrm>
        </p:grpSpPr>
        <p:sp>
          <p:nvSpPr>
            <p:cNvPr id="17" name="Text 8">
              <a:extLst>
                <a:ext uri="{FF2B5EF4-FFF2-40B4-BE49-F238E27FC236}">
                  <a16:creationId xmlns:a16="http://schemas.microsoft.com/office/drawing/2014/main" id="{60224469-DDCD-16ED-E76E-4EC62209F7FF}"/>
                </a:ext>
              </a:extLst>
            </p:cNvPr>
            <p:cNvSpPr/>
            <p:nvPr/>
          </p:nvSpPr>
          <p:spPr>
            <a:xfrm>
              <a:off x="10236517" y="5725000"/>
              <a:ext cx="3692128" cy="1127760"/>
            </a:xfrm>
            <a:prstGeom prst="rect">
              <a:avLst/>
            </a:prstGeom>
            <a:noFill/>
            <a:ln/>
          </p:spPr>
          <p:txBody>
            <a:bodyPr wrap="square" lIns="0" tIns="0" rIns="0" bIns="0" rtlCol="0" anchor="t"/>
            <a:lstStyle/>
            <a:p>
              <a:pPr marL="342900" indent="-342900">
                <a:lnSpc>
                  <a:spcPts val="2300"/>
                </a:lnSpc>
                <a:buSzPct val="100000"/>
                <a:buChar char="•"/>
              </a:pPr>
              <a:r>
                <a:rPr lang="en-US" sz="2000" dirty="0">
                  <a:solidFill>
                    <a:srgbClr val="CFCBBF"/>
                  </a:solidFill>
                  <a:latin typeface="Raleway" pitchFamily="34" charset="0"/>
                </a:rPr>
                <a:t>Improved ability to analyze data and present insights in a clear, meaningful way.</a:t>
              </a:r>
            </a:p>
          </p:txBody>
        </p:sp>
        <p:sp>
          <p:nvSpPr>
            <p:cNvPr id="18" name="Rectangle 17">
              <a:extLst>
                <a:ext uri="{FF2B5EF4-FFF2-40B4-BE49-F238E27FC236}">
                  <a16:creationId xmlns:a16="http://schemas.microsoft.com/office/drawing/2014/main" id="{AF1F2898-BF3B-BE25-D08D-59DE5D8F34B6}"/>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FFE27109-DA0F-1A48-5B29-065C87AC63C4}"/>
              </a:ext>
            </a:extLst>
          </p:cNvPr>
          <p:cNvPicPr>
            <a:picLocks noChangeAspect="1"/>
          </p:cNvPicPr>
          <p:nvPr/>
        </p:nvPicPr>
        <p:blipFill>
          <a:blip r:embed="rId3"/>
          <a:stretch>
            <a:fillRect/>
          </a:stretch>
        </p:blipFill>
        <p:spPr>
          <a:xfrm>
            <a:off x="-4288" y="0"/>
            <a:ext cx="5562599" cy="8229600"/>
          </a:xfrm>
          <a:prstGeom prst="rect">
            <a:avLst/>
          </a:prstGeom>
        </p:spPr>
      </p:pic>
    </p:spTree>
    <p:extLst>
      <p:ext uri="{BB962C8B-B14F-4D97-AF65-F5344CB8AC3E}">
        <p14:creationId xmlns:p14="http://schemas.microsoft.com/office/powerpoint/2010/main" val="1856144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68FCE-5A44-59F0-3FB6-DE7F0D2D23E0}"/>
            </a:ext>
          </a:extLst>
        </p:cNvPr>
        <p:cNvGrpSpPr/>
        <p:nvPr/>
      </p:nvGrpSpPr>
      <p:grpSpPr>
        <a:xfrm>
          <a:off x="0" y="0"/>
          <a:ext cx="0" cy="0"/>
          <a:chOff x="0" y="0"/>
          <a:chExt cx="0" cy="0"/>
        </a:xfrm>
      </p:grpSpPr>
      <p:sp>
        <p:nvSpPr>
          <p:cNvPr id="14" name="Text 0">
            <a:extLst>
              <a:ext uri="{FF2B5EF4-FFF2-40B4-BE49-F238E27FC236}">
                <a16:creationId xmlns:a16="http://schemas.microsoft.com/office/drawing/2014/main" id="{D93D0F19-1B25-59BF-E343-A91F362DE418}"/>
              </a:ext>
            </a:extLst>
          </p:cNvPr>
          <p:cNvSpPr/>
          <p:nvPr/>
        </p:nvSpPr>
        <p:spPr>
          <a:xfrm>
            <a:off x="5544711" y="174861"/>
            <a:ext cx="3407628" cy="708779"/>
          </a:xfrm>
          <a:prstGeom prst="rect">
            <a:avLst/>
          </a:prstGeom>
          <a:noFill/>
          <a:ln/>
        </p:spPr>
        <p:txBody>
          <a:bodyPr wrap="none" lIns="0" tIns="0" rIns="0" bIns="0" rtlCol="0" anchor="t"/>
          <a:lstStyle/>
          <a:p>
            <a:pPr marL="0" indent="0" algn="l">
              <a:lnSpc>
                <a:spcPts val="5550"/>
              </a:lnSpc>
              <a:buNone/>
            </a:pPr>
            <a:r>
              <a:rPr lang="en-US" sz="445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Dash Board</a:t>
            </a:r>
          </a:p>
        </p:txBody>
      </p:sp>
      <p:pic>
        <p:nvPicPr>
          <p:cNvPr id="13" name="Picture 12">
            <a:extLst>
              <a:ext uri="{FF2B5EF4-FFF2-40B4-BE49-F238E27FC236}">
                <a16:creationId xmlns:a16="http://schemas.microsoft.com/office/drawing/2014/main" id="{A4E89071-F2D0-8AB6-58CC-9673B78113AA}"/>
              </a:ext>
            </a:extLst>
          </p:cNvPr>
          <p:cNvPicPr>
            <a:picLocks noChangeAspect="1"/>
          </p:cNvPicPr>
          <p:nvPr/>
        </p:nvPicPr>
        <p:blipFill>
          <a:blip r:embed="rId3"/>
          <a:stretch>
            <a:fillRect/>
          </a:stretch>
        </p:blipFill>
        <p:spPr>
          <a:xfrm>
            <a:off x="104775" y="902691"/>
            <a:ext cx="14401800" cy="7231659"/>
          </a:xfrm>
          <a:prstGeom prst="rect">
            <a:avLst/>
          </a:prstGeom>
        </p:spPr>
      </p:pic>
    </p:spTree>
    <p:extLst>
      <p:ext uri="{BB962C8B-B14F-4D97-AF65-F5344CB8AC3E}">
        <p14:creationId xmlns:p14="http://schemas.microsoft.com/office/powerpoint/2010/main" val="3521572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F3AA-3615-4113-9FEA-836564871CA1}"/>
            </a:ext>
          </a:extLst>
        </p:cNvPr>
        <p:cNvGrpSpPr/>
        <p:nvPr/>
      </p:nvGrpSpPr>
      <p:grpSpPr>
        <a:xfrm>
          <a:off x="0" y="0"/>
          <a:ext cx="0" cy="0"/>
          <a:chOff x="0" y="0"/>
          <a:chExt cx="0" cy="0"/>
        </a:xfrm>
      </p:grpSpPr>
      <p:sp>
        <p:nvSpPr>
          <p:cNvPr id="14" name="Text 0">
            <a:extLst>
              <a:ext uri="{FF2B5EF4-FFF2-40B4-BE49-F238E27FC236}">
                <a16:creationId xmlns:a16="http://schemas.microsoft.com/office/drawing/2014/main" id="{23C00430-4E98-C866-3912-2E49B4BFEB39}"/>
              </a:ext>
            </a:extLst>
          </p:cNvPr>
          <p:cNvSpPr/>
          <p:nvPr/>
        </p:nvSpPr>
        <p:spPr>
          <a:xfrm>
            <a:off x="5544711" y="174861"/>
            <a:ext cx="3407628"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rPr>
              <a:t>    </a:t>
            </a:r>
            <a:r>
              <a:rPr lang="en-US" sz="4450"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Report</a:t>
            </a:r>
          </a:p>
        </p:txBody>
      </p:sp>
      <p:pic>
        <p:nvPicPr>
          <p:cNvPr id="5" name="Picture 4">
            <a:extLst>
              <a:ext uri="{FF2B5EF4-FFF2-40B4-BE49-F238E27FC236}">
                <a16:creationId xmlns:a16="http://schemas.microsoft.com/office/drawing/2014/main" id="{78B36453-02DC-AF7D-5C96-1CF70AF7FCF9}"/>
              </a:ext>
            </a:extLst>
          </p:cNvPr>
          <p:cNvPicPr>
            <a:picLocks noChangeAspect="1"/>
          </p:cNvPicPr>
          <p:nvPr/>
        </p:nvPicPr>
        <p:blipFill>
          <a:blip r:embed="rId3"/>
          <a:stretch>
            <a:fillRect/>
          </a:stretch>
        </p:blipFill>
        <p:spPr>
          <a:xfrm>
            <a:off x="95250" y="906501"/>
            <a:ext cx="14392275" cy="7246899"/>
          </a:xfrm>
          <a:prstGeom prst="rect">
            <a:avLst/>
          </a:prstGeom>
        </p:spPr>
      </p:pic>
    </p:spTree>
    <p:extLst>
      <p:ext uri="{BB962C8B-B14F-4D97-AF65-F5344CB8AC3E}">
        <p14:creationId xmlns:p14="http://schemas.microsoft.com/office/powerpoint/2010/main" val="1426470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7885-2FA2-4C19-0FBA-426847BF3BAA}"/>
            </a:ext>
          </a:extLst>
        </p:cNvPr>
        <p:cNvGrpSpPr/>
        <p:nvPr/>
      </p:nvGrpSpPr>
      <p:grpSpPr>
        <a:xfrm>
          <a:off x="0" y="0"/>
          <a:ext cx="0" cy="0"/>
          <a:chOff x="0" y="0"/>
          <a:chExt cx="0" cy="0"/>
        </a:xfrm>
      </p:grpSpPr>
      <p:sp>
        <p:nvSpPr>
          <p:cNvPr id="14" name="Text 0">
            <a:extLst>
              <a:ext uri="{FF2B5EF4-FFF2-40B4-BE49-F238E27FC236}">
                <a16:creationId xmlns:a16="http://schemas.microsoft.com/office/drawing/2014/main" id="{58B940C1-B57E-A721-2CDA-FC8BF4DF3E58}"/>
              </a:ext>
            </a:extLst>
          </p:cNvPr>
          <p:cNvSpPr/>
          <p:nvPr/>
        </p:nvSpPr>
        <p:spPr>
          <a:xfrm>
            <a:off x="2543175" y="2943225"/>
            <a:ext cx="4324350" cy="790575"/>
          </a:xfrm>
          <a:prstGeom prst="rect">
            <a:avLst/>
          </a:prstGeom>
          <a:noFill/>
          <a:ln/>
        </p:spPr>
        <p:txBody>
          <a:bodyPr wrap="none" lIns="0" tIns="0" rIns="0" bIns="0" rtlCol="0" anchor="t"/>
          <a:lstStyle/>
          <a:p>
            <a:pPr>
              <a:lnSpc>
                <a:spcPts val="5550"/>
              </a:lnSpc>
            </a:pPr>
            <a:r>
              <a:rPr lang="en-US" sz="6000" b="1"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Thank You!</a:t>
            </a:r>
          </a:p>
        </p:txBody>
      </p:sp>
      <p:sp>
        <p:nvSpPr>
          <p:cNvPr id="16" name="Rectangle 15">
            <a:extLst>
              <a:ext uri="{FF2B5EF4-FFF2-40B4-BE49-F238E27FC236}">
                <a16:creationId xmlns:a16="http://schemas.microsoft.com/office/drawing/2014/main" id="{213E90EF-3A46-39E4-6223-6E60ED42899B}"/>
              </a:ext>
            </a:extLst>
          </p:cNvPr>
          <p:cNvSpPr/>
          <p:nvPr/>
        </p:nvSpPr>
        <p:spPr>
          <a:xfrm>
            <a:off x="12887325" y="7781925"/>
            <a:ext cx="1609725" cy="345039"/>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C4EEA047-A0F8-F2C6-8EEE-12A61D2FE4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5075" y="0"/>
            <a:ext cx="4589463" cy="8229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3">
            <a:extLst>
              <a:ext uri="{FF2B5EF4-FFF2-40B4-BE49-F238E27FC236}">
                <a16:creationId xmlns:a16="http://schemas.microsoft.com/office/drawing/2014/main" id="{9A2DB0CD-D66B-DA07-D239-D1E19E3A9B0C}"/>
              </a:ext>
            </a:extLst>
          </p:cNvPr>
          <p:cNvSpPr/>
          <p:nvPr/>
        </p:nvSpPr>
        <p:spPr>
          <a:xfrm>
            <a:off x="914400" y="4114800"/>
            <a:ext cx="8362950" cy="1583770"/>
          </a:xfrm>
          <a:prstGeom prst="rect">
            <a:avLst/>
          </a:prstGeom>
          <a:noFill/>
          <a:ln/>
        </p:spPr>
        <p:txBody>
          <a:bodyPr wrap="square" lIns="0" tIns="0" rIns="0" bIns="0" rtlCol="0" anchor="t"/>
          <a:lstStyle/>
          <a:p>
            <a:pPr algn="just"/>
            <a:r>
              <a:rPr lang="en-US" sz="2000" dirty="0">
                <a:solidFill>
                  <a:srgbClr val="CFCBBF"/>
                </a:solidFill>
                <a:latin typeface="Raleway" pitchFamily="34" charset="0"/>
              </a:rPr>
              <a:t>We appreciate your time and attention today. We're confident that these data-driven insights will empower Adventure Works to make more informed decisions, optimize operations, and continue its journey of growth and innovation.</a:t>
            </a:r>
          </a:p>
        </p:txBody>
      </p:sp>
    </p:spTree>
    <p:extLst>
      <p:ext uri="{BB962C8B-B14F-4D97-AF65-F5344CB8AC3E}">
        <p14:creationId xmlns:p14="http://schemas.microsoft.com/office/powerpoint/2010/main" val="4122650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915</TotalTime>
  <Words>1165</Words>
  <Application>Microsoft Office PowerPoint</Application>
  <PresentationFormat>Custom</PresentationFormat>
  <Paragraphs>141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Prata</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lastModifiedBy>Karapa Harsha Vardhan</cp:lastModifiedBy>
  <cp:revision>7</cp:revision>
  <dcterms:created xsi:type="dcterms:W3CDTF">2026-01-08T10:29:52Z</dcterms:created>
  <dcterms:modified xsi:type="dcterms:W3CDTF">2026-01-10T08:18:54Z</dcterms:modified>
</cp:coreProperties>
</file>